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9" r:id="rId3"/>
    <p:sldId id="257" r:id="rId4"/>
    <p:sldId id="282" r:id="rId5"/>
    <p:sldId id="258" r:id="rId6"/>
    <p:sldId id="259" r:id="rId7"/>
    <p:sldId id="287" r:id="rId8"/>
    <p:sldId id="283" r:id="rId9"/>
    <p:sldId id="260" r:id="rId10"/>
    <p:sldId id="280" r:id="rId11"/>
    <p:sldId id="261" r:id="rId12"/>
    <p:sldId id="262" r:id="rId13"/>
    <p:sldId id="264" r:id="rId14"/>
    <p:sldId id="266" r:id="rId15"/>
    <p:sldId id="267" r:id="rId16"/>
    <p:sldId id="281" r:id="rId17"/>
    <p:sldId id="269" r:id="rId18"/>
    <p:sldId id="268" r:id="rId19"/>
    <p:sldId id="288" r:id="rId20"/>
    <p:sldId id="273" r:id="rId21"/>
    <p:sldId id="285" r:id="rId22"/>
    <p:sldId id="272" r:id="rId23"/>
    <p:sldId id="286" r:id="rId24"/>
    <p:sldId id="270" r:id="rId25"/>
    <p:sldId id="284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ED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20" autoAdjust="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733F2-ADF0-41C3-B677-9F2043369282}" type="datetimeFigureOut">
              <a:rPr lang="es-AR" smtClean="0"/>
              <a:t>15/8/2026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7934A-C306-451F-A1FB-08FAE089A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705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3850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1299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945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765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6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6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6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6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F2C22D2A-AD48-D51A-921C-2B005F136629}"/>
              </a:ext>
            </a:extLst>
          </p:cNvPr>
          <p:cNvGrpSpPr/>
          <p:nvPr/>
        </p:nvGrpSpPr>
        <p:grpSpPr>
          <a:xfrm>
            <a:off x="0" y="18288"/>
            <a:ext cx="12192000" cy="6858000"/>
            <a:chOff x="-9427" y="0"/>
            <a:chExt cx="12201427" cy="6858000"/>
          </a:xfrm>
        </p:grpSpPr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078CE650-B4BD-E918-2B30-4234F7DB1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2000"/>
            </a:blip>
            <a:srcRect t="21875" b="21875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7C2018C6-47EE-D80E-C07E-91DCF6AFAD29}"/>
                </a:ext>
              </a:extLst>
            </p:cNvPr>
            <p:cNvSpPr/>
            <p:nvPr/>
          </p:nvSpPr>
          <p:spPr>
            <a:xfrm>
              <a:off x="-9427" y="0"/>
              <a:ext cx="12192000" cy="6858000"/>
            </a:xfrm>
            <a:prstGeom prst="rect">
              <a:avLst/>
            </a:prstGeom>
            <a:gradFill rotWithShape="1">
              <a:gsLst>
                <a:gs pos="42000">
                  <a:srgbClr val="0F1E33">
                    <a:alpha val="100000"/>
                  </a:srgbClr>
                </a:gs>
                <a:gs pos="78000">
                  <a:srgbClr val="0F1E33">
                    <a:alpha val="55000"/>
                  </a:srgbClr>
                </a:gs>
                <a:gs pos="100000">
                  <a:srgbClr val="0F1E33">
                    <a:alpha val="15000"/>
                  </a:srgbClr>
                </a:gs>
              </a:gsLst>
              <a:lin ang="600000" scaled="0"/>
            </a:gradFill>
            <a:ln/>
          </p:spPr>
          <p:txBody>
            <a:bodyPr/>
            <a:lstStyle/>
            <a:p>
              <a:endParaRPr lang="es-AR" noProof="1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29640" y="1636776"/>
              <a:ext cx="10332720" cy="12311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AR" sz="4000" b="1" i="0" noProof="1">
                  <a:solidFill>
                    <a:srgbClr val="FFFFFF"/>
                  </a:solidFill>
                  <a:latin typeface="Georgia"/>
                </a:rPr>
                <a:t>ALUAR ALUMINIO ARGENTINO SAIC (ALUA.BA)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3063240"/>
              <a:ext cx="10332720" cy="5232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AR" sz="1700" b="0" i="0" noProof="1">
                  <a:solidFill>
                    <a:srgbClr val="B7C4D9"/>
                  </a:solidFill>
                  <a:latin typeface="Segoe UI"/>
                </a:rPr>
                <a:t>Trabajo Final EyTB. Modelo DCF (FCFF) y valuación relativa</a:t>
              </a:r>
            </a:p>
            <a:p>
              <a:pPr algn="l"/>
              <a:r>
                <a:rPr lang="es-AR" sz="1700" noProof="1">
                  <a:solidFill>
                    <a:srgbClr val="B7C4D9"/>
                  </a:solidFill>
                  <a:latin typeface="Segoe UI"/>
                </a:rPr>
                <a:t>Alumno: Chillón Federico</a:t>
              </a:r>
              <a:endParaRPr lang="es-AR" sz="1700" b="0" i="0" noProof="1">
                <a:solidFill>
                  <a:srgbClr val="B7C4D9"/>
                </a:solidFill>
                <a:latin typeface="Segoe U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5989320"/>
              <a:ext cx="1033272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AR" sz="1100" b="0" i="0" noProof="1">
                  <a:solidFill>
                    <a:srgbClr val="8FA3BE"/>
                  </a:solidFill>
                  <a:latin typeface="Segoe UI"/>
                </a:rPr>
                <a:t>Economía y Técnica Bursátil - UNCuyo  |  Trabajo </a:t>
              </a:r>
              <a:r>
                <a:rPr lang="es-AR" sz="1100" noProof="1">
                  <a:solidFill>
                    <a:srgbClr val="8FA3BE"/>
                  </a:solidFill>
                  <a:latin typeface="Segoe UI"/>
                </a:rPr>
                <a:t>Final</a:t>
              </a:r>
              <a:r>
                <a:rPr lang="es-AR" sz="1100" b="0" i="0" noProof="1">
                  <a:solidFill>
                    <a:srgbClr val="8FA3BE"/>
                  </a:solidFill>
                  <a:latin typeface="Segoe UI"/>
                </a:rPr>
                <a:t> de Valuación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B9132728-EB30-250E-145F-E8DEEAAC387F}"/>
              </a:ext>
            </a:extLst>
          </p:cNvPr>
          <p:cNvGrpSpPr/>
          <p:nvPr/>
        </p:nvGrpSpPr>
        <p:grpSpPr>
          <a:xfrm>
            <a:off x="128016" y="731519"/>
            <a:ext cx="11600686" cy="4187955"/>
            <a:chOff x="128016" y="731519"/>
            <a:chExt cx="11600686" cy="4187955"/>
          </a:xfrm>
        </p:grpSpPr>
        <p:sp>
          <p:nvSpPr>
            <p:cNvPr id="9" name="Rounded Rectangle 8"/>
            <p:cNvSpPr/>
            <p:nvPr/>
          </p:nvSpPr>
          <p:spPr>
            <a:xfrm>
              <a:off x="7833358" y="740665"/>
              <a:ext cx="3895344" cy="417880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638FB566-D9C3-D6DD-4329-098DAAFAF45E}"/>
                </a:ext>
              </a:extLst>
            </p:cNvPr>
            <p:cNvGrpSpPr/>
            <p:nvPr/>
          </p:nvGrpSpPr>
          <p:grpSpPr>
            <a:xfrm>
              <a:off x="128016" y="740665"/>
              <a:ext cx="3712464" cy="4169664"/>
              <a:chOff x="106013" y="740664"/>
              <a:chExt cx="4118515" cy="446035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06013" y="740664"/>
                <a:ext cx="4118515" cy="4460351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pic>
            <p:nvPicPr>
              <p:cNvPr id="4" name="Picture 3" descr="s09b_embi_descompresion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0597" y="1200000"/>
                <a:ext cx="3352517" cy="3872999"/>
              </a:xfrm>
              <a:prstGeom prst="rect">
                <a:avLst/>
              </a:prstGeom>
            </p:spPr>
          </p:pic>
          <p:sp>
            <p:nvSpPr>
              <p:cNvPr id="11" name="CT_10_0">
                <a:extLst>
                  <a:ext uri="{FF2B5EF4-FFF2-40B4-BE49-F238E27FC236}">
                    <a16:creationId xmlns:a16="http://schemas.microsoft.com/office/drawing/2014/main" id="{041DF8E0-0EEE-493F-F540-A149689A9959}"/>
                  </a:ext>
                </a:extLst>
              </p:cNvPr>
              <p:cNvSpPr txBox="1"/>
              <p:nvPr/>
            </p:nvSpPr>
            <p:spPr>
              <a:xfrm>
                <a:off x="457200" y="863600"/>
                <a:ext cx="3644901" cy="317451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Evolución del EMBI+, Argentina</a:t>
                </a:r>
              </a:p>
            </p:txBody>
          </p: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31CC6972-05B8-09A4-0B60-A9ED4585C321}"/>
                </a:ext>
              </a:extLst>
            </p:cNvPr>
            <p:cNvGrpSpPr/>
            <p:nvPr/>
          </p:nvGrpSpPr>
          <p:grpSpPr>
            <a:xfrm>
              <a:off x="3889247" y="731519"/>
              <a:ext cx="4035045" cy="4178809"/>
              <a:chOff x="3889247" y="731519"/>
              <a:chExt cx="4035045" cy="4178809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89247" y="731519"/>
                <a:ext cx="3895344" cy="4178809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3858E323-7A23-FEB8-1609-2B53B784A107}"/>
                  </a:ext>
                </a:extLst>
              </p:cNvPr>
              <p:cNvGrpSpPr/>
              <p:nvPr/>
            </p:nvGrpSpPr>
            <p:grpSpPr>
              <a:xfrm>
                <a:off x="3923278" y="769116"/>
                <a:ext cx="4001014" cy="4013236"/>
                <a:chOff x="3923278" y="769116"/>
                <a:chExt cx="4001014" cy="4013236"/>
              </a:xfrm>
            </p:grpSpPr>
            <p:sp>
              <p:nvSpPr>
                <p:cNvPr id="12" name="CT_10_1">
                  <a:extLst>
                    <a:ext uri="{FF2B5EF4-FFF2-40B4-BE49-F238E27FC236}">
                      <a16:creationId xmlns:a16="http://schemas.microsoft.com/office/drawing/2014/main" id="{244E54CC-1E1A-5A26-E25C-7888CA2C467F}"/>
                    </a:ext>
                  </a:extLst>
                </p:cNvPr>
                <p:cNvSpPr txBox="1"/>
                <p:nvPr/>
              </p:nvSpPr>
              <p:spPr>
                <a:xfrm>
                  <a:off x="4279392" y="769116"/>
                  <a:ext cx="3644900" cy="449157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s-AR" sz="1400" b="1" noProof="1">
                      <a:solidFill>
                        <a:srgbClr val="0B2545"/>
                      </a:solidFill>
                      <a:latin typeface="+mj-lt"/>
                    </a:rPr>
                    <a:t>Crecimiento e </a:t>
                  </a:r>
                </a:p>
                <a:p>
                  <a:pPr algn="ctr"/>
                  <a:r>
                    <a:rPr lang="es-AR" sz="1400" b="1" noProof="1">
                      <a:solidFill>
                        <a:srgbClr val="0B2545"/>
                      </a:solidFill>
                      <a:latin typeface="+mj-lt"/>
                    </a:rPr>
                    <a:t>inflación</a:t>
                  </a:r>
                </a:p>
              </p:txBody>
            </p:sp>
            <p:pic>
              <p:nvPicPr>
                <p:cNvPr id="19" name="Picture 18" descr="grupo14_pic_fix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23278" y="1521920"/>
                  <a:ext cx="3639312" cy="326043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0FCF98DB-80BD-DB45-E0DD-446EE7E9A691}"/>
                </a:ext>
              </a:extLst>
            </p:cNvPr>
            <p:cNvGrpSpPr/>
            <p:nvPr/>
          </p:nvGrpSpPr>
          <p:grpSpPr>
            <a:xfrm>
              <a:off x="7871244" y="751722"/>
              <a:ext cx="3851010" cy="4149359"/>
              <a:chOff x="8107678" y="721182"/>
              <a:chExt cx="3639312" cy="3919927"/>
            </a:xfrm>
          </p:grpSpPr>
          <p:pic>
            <p:nvPicPr>
              <p:cNvPr id="8" name="Picture 7" descr="s09b_lme_vs_dxy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07678" y="1197781"/>
                <a:ext cx="3639312" cy="3443328"/>
              </a:xfrm>
              <a:prstGeom prst="rect">
                <a:avLst/>
              </a:prstGeom>
            </p:spPr>
          </p:pic>
          <p:sp>
            <p:nvSpPr>
              <p:cNvPr id="13" name="CT_10_2">
                <a:extLst>
                  <a:ext uri="{FF2B5EF4-FFF2-40B4-BE49-F238E27FC236}">
                    <a16:creationId xmlns:a16="http://schemas.microsoft.com/office/drawing/2014/main" id="{2C7E4FB4-4748-1303-A38B-6D3AA28D5875}"/>
                  </a:ext>
                </a:extLst>
              </p:cNvPr>
              <p:cNvSpPr txBox="1"/>
              <p:nvPr/>
            </p:nvSpPr>
            <p:spPr>
              <a:xfrm>
                <a:off x="8119738" y="721182"/>
                <a:ext cx="3615193" cy="476599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Precio del aluminio LME (USD/Tn) vs DXY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0" y="0"/>
            <a:ext cx="12192000" cy="6663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endParaRPr lang="es-AR" noProof="1"/>
          </a:p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CONTEXTO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¿Cómo han evolucionado los principales indicadores macroeconómicos?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58" y="5213976"/>
            <a:ext cx="112745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rPr lang="es-AR" noProof="1"/>
              <a:t>Riesgo país se comprimió desde 2022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endParaRPr lang="es-AR" noProof="1"/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rPr lang="es-AR" noProof="1"/>
              <a:t>Macro converge a crecimiento moderado con inflación de un dígito. Proyectado crecimiento nominal y real.  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endParaRPr lang="es-AR" noProof="1"/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rPr lang="es-AR" noProof="1"/>
              <a:t>Precio del aluminio se sostiene pese al dólar fuerte, correlación negativa.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CONTEXTO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Entorno macroeconomico, renta variable y renta fija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 10Y (RF)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4.7%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8262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ERP (DAMODARAN)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4.2%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9324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EMBI+ ARGENTINA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441 pb (Jul-2026)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386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MERVAL P/E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18.7x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81448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KD ALUAR POST-TAX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2.5</a:t>
            </a:r>
            <a:r>
              <a:rPr lang="es-AR" b="1" noProof="1">
                <a:solidFill>
                  <a:srgbClr val="0B254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418320"/>
            <a:ext cx="4108398" cy="1746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Marco global: Tasa del Tesoro a 10 años y ERP fijan el piso del Ke. LME ancla los ingresos.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EMBI+ se comprimió a 441 pb. Lambda=0.20 pondera exposición doméstica (ALUAR exporta y factura en USD).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Ke=9.30%, Riesgo país ponderado explica 9% de la tasa (12.82% con spread completo).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ALUAR se financia al 3.80% antes de impuestos, por debajo del soberano implícito (9.11%): perfil exportador dolarizado.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556248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537B3AE-CE9B-3799-B3B7-21F8A016722E}"/>
              </a:ext>
            </a:extLst>
          </p:cNvPr>
          <p:cNvGrpSpPr/>
          <p:nvPr/>
        </p:nvGrpSpPr>
        <p:grpSpPr>
          <a:xfrm>
            <a:off x="457200" y="2148840"/>
            <a:ext cx="6949440" cy="4398264"/>
            <a:chOff x="457200" y="2148840"/>
            <a:chExt cx="6949440" cy="4398264"/>
          </a:xfrm>
        </p:grpSpPr>
        <p:sp>
          <p:nvSpPr>
            <p:cNvPr id="9" name="Rounded Rectangle 8"/>
            <p:cNvSpPr/>
            <p:nvPr/>
          </p:nvSpPr>
          <p:spPr>
            <a:xfrm>
              <a:off x="457200" y="2148840"/>
              <a:ext cx="6949440" cy="439826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pic>
          <p:nvPicPr>
            <p:cNvPr id="10" name="Picture 9" descr="s12b_renta_fija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9041" y="2249913"/>
              <a:ext cx="5505576" cy="4297186"/>
            </a:xfrm>
            <a:prstGeom prst="rect">
              <a:avLst/>
            </a:prstGeom>
          </p:spPr>
        </p:pic>
        <p:sp>
          <p:nvSpPr>
            <p:cNvPr id="3" name="CT_2_0">
              <a:extLst>
                <a:ext uri="{FF2B5EF4-FFF2-40B4-BE49-F238E27FC236}">
                  <a16:creationId xmlns:a16="http://schemas.microsoft.com/office/drawing/2014/main" id="{CA935AD1-F32C-C5FC-F3EB-F1252AC6463C}"/>
                </a:ext>
              </a:extLst>
            </p:cNvPr>
            <p:cNvSpPr txBox="1"/>
            <p:nvPr/>
          </p:nvSpPr>
          <p:spPr>
            <a:xfrm>
              <a:off x="950255" y="2194663"/>
              <a:ext cx="5963330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Aluar se financia muy por debajo del rendimiento soberano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626096" y="4329544"/>
            <a:ext cx="41083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C6B7F"/>
                </a:solidFill>
                <a:latin typeface="Segoe UI"/>
              </a:defRPr>
            </a:pPr>
            <a:r>
              <a:rPr lang="es-AR" sz="1300" noProof="1"/>
              <a:t>“Todavía hay cajas a las que ir en los organismos multilaterales de crédito”, J. Madanes Quintanilla, sobre el financiamiento del parque eólico (El Cronista, oct-2021).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76A8FBC-B8B4-EB86-2E98-F91E4FD15ED6}"/>
              </a:ext>
            </a:extLst>
          </p:cNvPr>
          <p:cNvGrpSpPr/>
          <p:nvPr/>
        </p:nvGrpSpPr>
        <p:grpSpPr>
          <a:xfrm>
            <a:off x="7626096" y="5276088"/>
            <a:ext cx="4108398" cy="1288028"/>
            <a:chOff x="7626096" y="5276088"/>
            <a:chExt cx="4108398" cy="1288028"/>
          </a:xfrm>
        </p:grpSpPr>
        <p:sp>
          <p:nvSpPr>
            <p:cNvPr id="13" name="Rounded Rectangle 8">
              <a:extLst>
                <a:ext uri="{FF2B5EF4-FFF2-40B4-BE49-F238E27FC236}">
                  <a16:creationId xmlns:a16="http://schemas.microsoft.com/office/drawing/2014/main" id="{4316B4D3-CFB6-EB2C-82C6-2818E44EE203}"/>
                </a:ext>
              </a:extLst>
            </p:cNvPr>
            <p:cNvSpPr/>
            <p:nvPr/>
          </p:nvSpPr>
          <p:spPr>
            <a:xfrm>
              <a:off x="7626096" y="5276088"/>
              <a:ext cx="4108398" cy="126187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6096" y="6417812"/>
              <a:ext cx="4105656" cy="146304"/>
            </a:xfrm>
            <a:prstGeom prst="rect">
              <a:avLst/>
            </a:prstGeom>
            <a:noFill/>
          </p:spPr>
          <p:txBody>
            <a:bodyPr wrap="none" tIns="0" bIns="0">
              <a:spAutoFit/>
            </a:bodyPr>
            <a:lstStyle/>
            <a:p>
              <a:pPr>
                <a:defRPr sz="700" i="1">
                  <a:solidFill>
                    <a:srgbClr val="9CA3AF"/>
                  </a:solidFill>
                  <a:latin typeface="Segoe UI"/>
                </a:defRPr>
              </a:pPr>
              <a:r>
                <a:rPr lang="es-AR" noProof="1"/>
                <a:t>Fuente: BCRA (indicadores.ar), promedio mensual.</a:t>
              </a:r>
            </a:p>
          </p:txBody>
        </p:sp>
        <p:sp>
          <p:nvSpPr>
            <p:cNvPr id="19" name="CT_2_0">
              <a:extLst>
                <a:ext uri="{FF2B5EF4-FFF2-40B4-BE49-F238E27FC236}">
                  <a16:creationId xmlns:a16="http://schemas.microsoft.com/office/drawing/2014/main" id="{B8071931-3568-3598-1366-B4C828C5C778}"/>
                </a:ext>
              </a:extLst>
            </p:cNvPr>
            <p:cNvSpPr txBox="1"/>
            <p:nvPr/>
          </p:nvSpPr>
          <p:spPr>
            <a:xfrm>
              <a:off x="7626096" y="5306676"/>
              <a:ext cx="4105656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s-AR" sz="800" b="1" noProof="1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Tasa Badlar (renta fija local, en pesos)</a:t>
              </a:r>
            </a:p>
          </p:txBody>
        </p:sp>
        <p:pic>
          <p:nvPicPr>
            <p:cNvPr id="22" name="Picture 21" descr="slide3_badlar_fix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6096" y="5349240"/>
              <a:ext cx="4066326" cy="105028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non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CONTEXTO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Curva de riesgo país y su convergencia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26100" y="960120"/>
            <a:ext cx="7739799" cy="451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6" name="TextBox 5"/>
          <p:cNvSpPr txBox="1"/>
          <p:nvPr/>
        </p:nvSpPr>
        <p:spPr>
          <a:xfrm>
            <a:off x="457200" y="5623560"/>
            <a:ext cx="11274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EMBI+ resume el riesgo soberano (Spread sobre US10Y).</a:t>
            </a:r>
          </a:p>
          <a:p>
            <a:endParaRPr lang="es-AR" sz="1000" b="0" noProof="1">
              <a:solidFill>
                <a:srgbClr val="0B2545"/>
              </a:solidFill>
              <a:latin typeface="Segoe UI"/>
            </a:endParaRPr>
          </a:p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Rendimiento actual = 4.70% (US10Y) + 4.41% (EMBI+) = 9.11%.</a:t>
            </a:r>
          </a:p>
          <a:p>
            <a:endParaRPr lang="es-AR" sz="1000" b="0" noProof="1">
              <a:solidFill>
                <a:srgbClr val="0B2545"/>
              </a:solidFill>
              <a:latin typeface="Segoe UI"/>
            </a:endParaRPr>
          </a:p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AR(1) proyecta convergencia de largo plazo a ~422 pb.</a:t>
            </a:r>
          </a:p>
          <a:p>
            <a:endParaRPr lang="es-AR" sz="1000" b="0" noProof="1">
              <a:solidFill>
                <a:srgbClr val="0B2545"/>
              </a:solidFill>
              <a:latin typeface="Segoe UI"/>
            </a:endParaRPr>
          </a:p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El modelo (WACC/DCF) usa un supuesto constante de 441 pb, no la convergencia AR(1).</a:t>
            </a:r>
          </a:p>
        </p:txBody>
      </p:sp>
      <p:pic>
        <p:nvPicPr>
          <p:cNvPr id="7" name="Picture 6" descr="figur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260" y="1097280"/>
            <a:ext cx="7465479" cy="423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LA EMPRESA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¿Cuál es el rol de ALUAR en el mercado global y regional?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580E78E-A296-3A53-44DF-B972EE00A5EB}"/>
              </a:ext>
            </a:extLst>
          </p:cNvPr>
          <p:cNvGrpSpPr/>
          <p:nvPr/>
        </p:nvGrpSpPr>
        <p:grpSpPr>
          <a:xfrm>
            <a:off x="171998" y="837772"/>
            <a:ext cx="11837803" cy="993381"/>
            <a:chOff x="457200" y="960120"/>
            <a:chExt cx="11277292" cy="960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CAPACIDAD INSTALADA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460.000 Tn/año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308527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UTILIZACIÓN (MODELO)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94%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59854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INGRESOS 2025</a:t>
              </a: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USD 1,093 MM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11181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PRECIO REALIZADO 2025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USD 2,469/Tn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3566" y="5136761"/>
            <a:ext cx="12098434" cy="733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- Único productor integrado de Argentina, planta en Puerto Madryn (Chubut).		- Líder doméstico: 60% del mercado. Barrera por integración energética propia.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- Despachó 442.437 Tn en 2025 (96.8% utilización), modelo proyecta 94%.			- +50 años: Futaleufú (1978) + Parque Eólico (2024) dan ventaja energética, control familiar.</a:t>
            </a:r>
          </a:p>
          <a:p>
            <a:pPr>
              <a:spcAft>
                <a:spcPts val="700"/>
              </a:spcAft>
            </a:pPr>
            <a:endParaRPr lang="es-AR" sz="1200" noProof="1"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49C295F-F392-46FF-484C-BD4B91554DC5}"/>
              </a:ext>
            </a:extLst>
          </p:cNvPr>
          <p:cNvGrpSpPr/>
          <p:nvPr/>
        </p:nvGrpSpPr>
        <p:grpSpPr>
          <a:xfrm>
            <a:off x="171998" y="2314383"/>
            <a:ext cx="11851047" cy="2325171"/>
            <a:chOff x="61457" y="1900805"/>
            <a:chExt cx="12005900" cy="2362243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E03619DF-1A2A-0F04-85D7-7C3A25D85676}"/>
                </a:ext>
              </a:extLst>
            </p:cNvPr>
            <p:cNvGrpSpPr/>
            <p:nvPr/>
          </p:nvGrpSpPr>
          <p:grpSpPr>
            <a:xfrm>
              <a:off x="8414717" y="1900805"/>
              <a:ext cx="3652640" cy="2362243"/>
              <a:chOff x="7235645" y="2057400"/>
              <a:chExt cx="4498848" cy="3419856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7235645" y="2057400"/>
                <a:ext cx="4498848" cy="3419856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FC6A264-D958-FDD7-E7E7-4EFAA1499DCE}"/>
                  </a:ext>
                </a:extLst>
              </p:cNvPr>
              <p:cNvGrpSpPr/>
              <p:nvPr/>
            </p:nvGrpSpPr>
            <p:grpSpPr>
              <a:xfrm>
                <a:off x="7389164" y="2150451"/>
                <a:ext cx="4306139" cy="3120658"/>
                <a:chOff x="6322823" y="2357120"/>
                <a:chExt cx="4939080" cy="3492781"/>
              </a:xfrm>
            </p:grpSpPr>
            <p:pic>
              <p:nvPicPr>
                <p:cNvPr id="9" name="Picture 8" descr="s27_market_share_regional.png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66154" y="2406170"/>
                  <a:ext cx="4507990" cy="3443731"/>
                </a:xfrm>
                <a:prstGeom prst="rect">
                  <a:avLst/>
                </a:prstGeom>
              </p:spPr>
            </p:pic>
            <p:sp>
              <p:nvSpPr>
                <p:cNvPr id="12" name="CT_3_0">
                  <a:extLst>
                    <a:ext uri="{FF2B5EF4-FFF2-40B4-BE49-F238E27FC236}">
                      <a16:creationId xmlns:a16="http://schemas.microsoft.com/office/drawing/2014/main" id="{109FB385-A4B1-2B5E-FB3A-96615B257833}"/>
                    </a:ext>
                  </a:extLst>
                </p:cNvPr>
                <p:cNvSpPr txBox="1"/>
                <p:nvPr/>
              </p:nvSpPr>
              <p:spPr>
                <a:xfrm>
                  <a:off x="6322823" y="2357120"/>
                  <a:ext cx="4939080" cy="658654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vert="horz" wrap="square" rtlCol="0">
                  <a:spAutoFit/>
                </a:bodyPr>
                <a:lstStyle/>
                <a:p>
                  <a:pPr algn="ctr"/>
                  <a:r>
                    <a:rPr lang="es-AR" sz="1000" b="1" noProof="1">
                      <a:solidFill>
                        <a:srgbClr val="0B2545"/>
                      </a:solidFill>
                      <a:latin typeface="+mj-lt"/>
                    </a:rPr>
                    <a:t>Participación de mercado de ALUAR en Argentina</a:t>
                  </a:r>
                </a:p>
              </p:txBody>
            </p:sp>
          </p:grp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8BDD591-7AC3-C8F9-D804-55203D1A556A}"/>
                </a:ext>
              </a:extLst>
            </p:cNvPr>
            <p:cNvGrpSpPr/>
            <p:nvPr/>
          </p:nvGrpSpPr>
          <p:grpSpPr>
            <a:xfrm>
              <a:off x="4177036" y="1900805"/>
              <a:ext cx="4175360" cy="2348663"/>
              <a:chOff x="1511808" y="2057400"/>
              <a:chExt cx="5421133" cy="3419856"/>
            </a:xfrm>
          </p:grpSpPr>
          <p:sp>
            <p:nvSpPr>
              <p:cNvPr id="19" name="Rounded Rectangle 7">
                <a:extLst>
                  <a:ext uri="{FF2B5EF4-FFF2-40B4-BE49-F238E27FC236}">
                    <a16:creationId xmlns:a16="http://schemas.microsoft.com/office/drawing/2014/main" id="{B3E76C37-0D7D-792C-524C-CA9979131810}"/>
                  </a:ext>
                </a:extLst>
              </p:cNvPr>
              <p:cNvSpPr/>
              <p:nvPr/>
            </p:nvSpPr>
            <p:spPr>
              <a:xfrm>
                <a:off x="1511808" y="2057400"/>
                <a:ext cx="5421133" cy="3419856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4EE404E6-CF41-EAD8-8189-29FD915E864B}"/>
                  </a:ext>
                </a:extLst>
              </p:cNvPr>
              <p:cNvGrpSpPr/>
              <p:nvPr/>
            </p:nvGrpSpPr>
            <p:grpSpPr>
              <a:xfrm>
                <a:off x="1511808" y="2152681"/>
                <a:ext cx="5365250" cy="3184913"/>
                <a:chOff x="124588" y="-50360"/>
                <a:chExt cx="5736650" cy="3613960"/>
              </a:xfrm>
            </p:grpSpPr>
            <p:pic>
              <p:nvPicPr>
                <p:cNvPr id="16" name="Picture 8" descr="s27_market_share_regional.png">
                  <a:extLst>
                    <a:ext uri="{FF2B5EF4-FFF2-40B4-BE49-F238E27FC236}">
                      <a16:creationId xmlns:a16="http://schemas.microsoft.com/office/drawing/2014/main" id="{DF218EE9-020E-5510-B312-B4AEF56C4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588" y="1"/>
                  <a:ext cx="5677650" cy="3563599"/>
                </a:xfrm>
                <a:prstGeom prst="rect">
                  <a:avLst/>
                </a:prstGeom>
              </p:spPr>
            </p:pic>
            <p:sp>
              <p:nvSpPr>
                <p:cNvPr id="17" name="CT_22_Cont">
                  <a:extLst>
                    <a:ext uri="{FF2B5EF4-FFF2-40B4-BE49-F238E27FC236}">
                      <a16:creationId xmlns:a16="http://schemas.microsoft.com/office/drawing/2014/main" id="{E5166798-4727-5A75-8000-8E1E8A0559EF}"/>
                    </a:ext>
                  </a:extLst>
                </p:cNvPr>
                <p:cNvSpPr txBox="1"/>
                <p:nvPr/>
              </p:nvSpPr>
              <p:spPr>
                <a:xfrm>
                  <a:off x="184338" y="-50360"/>
                  <a:ext cx="5676900" cy="413302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vert="horz" rtlCol="0">
                  <a:spAutoFit/>
                </a:bodyPr>
                <a:lstStyle/>
                <a:p>
                  <a:pPr algn="ctr">
                    <a:defRPr sz="1400" b="1">
                      <a:solidFill>
                        <a:srgbClr val="0B2545"/>
                      </a:solidFill>
                      <a:latin typeface="Georgia"/>
                    </a:defRPr>
                  </a:pPr>
                  <a:r>
                    <a:rPr lang="es-AR" sz="1000" b="1" noProof="1">
                      <a:solidFill>
                        <a:srgbClr val="0B2545"/>
                      </a:solidFill>
                      <a:latin typeface="Georgia"/>
                    </a:rPr>
                    <a:t>Principales productores mundiales y regionales</a:t>
                  </a:r>
                </a:p>
              </p:txBody>
            </p:sp>
          </p:grp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81335457-54CE-A0E5-3027-7D3474EC927A}"/>
                </a:ext>
              </a:extLst>
            </p:cNvPr>
            <p:cNvGrpSpPr/>
            <p:nvPr/>
          </p:nvGrpSpPr>
          <p:grpSpPr>
            <a:xfrm>
              <a:off x="61457" y="1900805"/>
              <a:ext cx="4053258" cy="2348663"/>
              <a:chOff x="457200" y="1417320"/>
              <a:chExt cx="7863840" cy="4139940"/>
            </a:xfrm>
          </p:grpSpPr>
          <p:sp>
            <p:nvSpPr>
              <p:cNvPr id="21" name="Rounded Rectangle 3">
                <a:extLst>
                  <a:ext uri="{FF2B5EF4-FFF2-40B4-BE49-F238E27FC236}">
                    <a16:creationId xmlns:a16="http://schemas.microsoft.com/office/drawing/2014/main" id="{4D406E81-A1C0-7BE9-947A-AAB8E2ECB028}"/>
                  </a:ext>
                </a:extLst>
              </p:cNvPr>
              <p:cNvSpPr/>
              <p:nvPr/>
            </p:nvSpPr>
            <p:spPr>
              <a:xfrm>
                <a:off x="457200" y="1417320"/>
                <a:ext cx="7863840" cy="413994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25" name="Picture 4" descr="image.png">
                <a:extLst>
                  <a:ext uri="{FF2B5EF4-FFF2-40B4-BE49-F238E27FC236}">
                    <a16:creationId xmlns:a16="http://schemas.microsoft.com/office/drawing/2014/main" id="{A5E4FA9D-935B-DC84-D431-61EC94FA43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231" y="1490472"/>
                <a:ext cx="7837809" cy="4066788"/>
              </a:xfrm>
              <a:prstGeom prst="rect">
                <a:avLst/>
              </a:prstGeom>
            </p:spPr>
          </p:pic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C6FE747A-D3BA-9594-E282-11B32F65A1D0}"/>
                  </a:ext>
                </a:extLst>
              </p:cNvPr>
              <p:cNvSpPr txBox="1"/>
              <p:nvPr/>
            </p:nvSpPr>
            <p:spPr>
              <a:xfrm>
                <a:off x="795527" y="1587424"/>
                <a:ext cx="7168896" cy="4340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defRPr sz="1400" b="1">
                    <a:solidFill>
                      <a:srgbClr val="0B2545"/>
                    </a:solidFill>
                    <a:latin typeface="Georgia"/>
                  </a:defRPr>
                </a:pPr>
                <a:r>
                  <a:rPr lang="es-AR" sz="1000" noProof="1"/>
                  <a:t>Producción mundial de aluminio primario</a:t>
                </a: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LA EMPRESA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Ventaja competitiva de aluar: Matriz Energética y Monopolio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5038344"/>
            <a:ext cx="5340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800" b="0" i="1" noProof="1">
                <a:solidFill>
                  <a:srgbClr val="5C6B7F"/>
                </a:solidFill>
                <a:latin typeface="Segoe UI"/>
              </a:rPr>
              <a:t>ALUAR en la curva de costos global de aluminio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77295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Matriz 54% hidroeléctrica + parque eólico propio defiende margen ante caídas del LME.</a:t>
            </a:r>
          </a:p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Producción mundial ~70M Tn (2024). ALUAR es 2do productor de Latinoamérica.</a:t>
            </a:r>
          </a:p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Sobrecapacidad china (&gt;60% subsidiada) presiona LME, pero bajo costo de ALUAR la protege.</a:t>
            </a:r>
          </a:p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Apertura comercial + RIGI + TCR benefician (80% ingresos en USD), aunque con más competencia de importaciones</a:t>
            </a:r>
            <a:r>
              <a:rPr lang="es-AR" sz="1200" b="1" noProof="1">
                <a:latin typeface="Segoe UI"/>
              </a:rPr>
              <a:t>.</a:t>
            </a:r>
            <a:endParaRPr lang="es-AR" sz="1200" b="0" noProof="1">
              <a:solidFill>
                <a:srgbClr val="1A2A3D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B51A5BF-D040-01AB-0573-13DE28363FFB}"/>
              </a:ext>
            </a:extLst>
          </p:cNvPr>
          <p:cNvGrpSpPr/>
          <p:nvPr/>
        </p:nvGrpSpPr>
        <p:grpSpPr>
          <a:xfrm>
            <a:off x="457200" y="960120"/>
            <a:ext cx="5486400" cy="4297680"/>
            <a:chOff x="457200" y="960120"/>
            <a:chExt cx="5486400" cy="429768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5486400" cy="429768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pic>
          <p:nvPicPr>
            <p:cNvPr id="5" name="Picture 4" descr="s15_energy_mix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263" y="1178219"/>
              <a:ext cx="5288272" cy="3623736"/>
            </a:xfrm>
            <a:prstGeom prst="rect">
              <a:avLst/>
            </a:prstGeom>
          </p:spPr>
        </p:pic>
        <p:sp>
          <p:nvSpPr>
            <p:cNvPr id="3" name="CT_4_0">
              <a:extLst>
                <a:ext uri="{FF2B5EF4-FFF2-40B4-BE49-F238E27FC236}">
                  <a16:creationId xmlns:a16="http://schemas.microsoft.com/office/drawing/2014/main" id="{3D11837D-3381-1306-3B49-C65D4EAE3F35}"/>
                </a:ext>
              </a:extLst>
            </p:cNvPr>
            <p:cNvSpPr txBox="1"/>
            <p:nvPr/>
          </p:nvSpPr>
          <p:spPr>
            <a:xfrm>
              <a:off x="558800" y="1181100"/>
              <a:ext cx="5283200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Matriz energética de ALUAR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359E356-6423-4C34-3991-7E1ECDC1E610}"/>
              </a:ext>
            </a:extLst>
          </p:cNvPr>
          <p:cNvGrpSpPr/>
          <p:nvPr/>
        </p:nvGrpSpPr>
        <p:grpSpPr>
          <a:xfrm>
            <a:off x="6245352" y="960120"/>
            <a:ext cx="5486400" cy="4297680"/>
            <a:chOff x="6245352" y="960120"/>
            <a:chExt cx="5486400" cy="4297680"/>
          </a:xfrm>
        </p:grpSpPr>
        <p:sp>
          <p:nvSpPr>
            <p:cNvPr id="7" name="Rounded Rectangle 6"/>
            <p:cNvSpPr/>
            <p:nvPr/>
          </p:nvSpPr>
          <p:spPr>
            <a:xfrm>
              <a:off x="6245352" y="960120"/>
              <a:ext cx="5486400" cy="429768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E345F64-6A59-6088-2638-8D381074B453}"/>
                </a:ext>
              </a:extLst>
            </p:cNvPr>
            <p:cNvGrpSpPr/>
            <p:nvPr/>
          </p:nvGrpSpPr>
          <p:grpSpPr>
            <a:xfrm>
              <a:off x="6318504" y="1179018"/>
              <a:ext cx="5413248" cy="3980005"/>
              <a:chOff x="6318504" y="1179018"/>
              <a:chExt cx="5413248" cy="3980005"/>
            </a:xfrm>
          </p:grpSpPr>
          <p:pic>
            <p:nvPicPr>
              <p:cNvPr id="8" name="Picture 7" descr="s16_cost_curv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8504" y="1179018"/>
                <a:ext cx="5413247" cy="3980005"/>
              </a:xfrm>
              <a:prstGeom prst="rect">
                <a:avLst/>
              </a:prstGeom>
            </p:spPr>
          </p:pic>
          <p:sp>
            <p:nvSpPr>
              <p:cNvPr id="11" name="CT_4_1">
                <a:extLst>
                  <a:ext uri="{FF2B5EF4-FFF2-40B4-BE49-F238E27FC236}">
                    <a16:creationId xmlns:a16="http://schemas.microsoft.com/office/drawing/2014/main" id="{F7F51129-1487-9D1D-104C-9C7D4AFF2621}"/>
                  </a:ext>
                </a:extLst>
              </p:cNvPr>
              <p:cNvSpPr txBox="1"/>
              <p:nvPr/>
            </p:nvSpPr>
            <p:spPr>
              <a:xfrm>
                <a:off x="6318504" y="1196340"/>
                <a:ext cx="5340096" cy="307777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  <a:cs typeface="Segoe UI" panose="020B0502040204020203" pitchFamily="34" charset="0"/>
                  </a:rPr>
                  <a:t>Curva de costos global del aluminio</a:t>
                </a: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LA EMPRESA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Estructura Accionaria y Gobernanza Corporativa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F83A928-3448-B5B4-B9DE-A91BFC60D683}"/>
              </a:ext>
            </a:extLst>
          </p:cNvPr>
          <p:cNvGrpSpPr/>
          <p:nvPr/>
        </p:nvGrpSpPr>
        <p:grpSpPr>
          <a:xfrm>
            <a:off x="457200" y="960120"/>
            <a:ext cx="11420856" cy="1051560"/>
            <a:chOff x="457200" y="960120"/>
            <a:chExt cx="8996232" cy="105156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GRUPO DE CONTROL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45.98%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738262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COMISIÓN FISCALIZADORA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3 miembros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019324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COMITÉ DE AUDITORÍA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3 directores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300386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ACCIONES EN CIRCULACIÓN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2,800 MM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626096" y="2418320"/>
            <a:ext cx="4251960" cy="1746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Las sociedades del grupo de control -CIPAL, Estancias San Javier de Catamarca S.A. y Angerona Group Trust (NZ)- concentran el 45,98% del capital con derecho a voto.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No es mayoría absoluta, pero sí de bloqueo efectivo: el 54,02% restante está atomizado entre la ANSES-FGS y un free float sin otro bloque comparable.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Gobierno corporativo: Directorio, Comisión Fiscalizadora (3 miembros titulares), Comité de Auditoría (3 directores) y Comité de Diversidad, Equidad e Inclusión (Memoria FY2025).</a:t>
            </a:r>
          </a:p>
          <a:p>
            <a:pPr>
              <a:spcAft>
                <a:spcPts val="700"/>
              </a:spcAft>
            </a:pPr>
            <a:endParaRPr lang="es-AR" sz="1200" noProof="1"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6556248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537B3AE-CE9B-3799-B3B7-21F8A016722E}"/>
              </a:ext>
            </a:extLst>
          </p:cNvPr>
          <p:cNvGrpSpPr/>
          <p:nvPr/>
        </p:nvGrpSpPr>
        <p:grpSpPr>
          <a:xfrm>
            <a:off x="457200" y="2148840"/>
            <a:ext cx="6949440" cy="4398264"/>
            <a:chOff x="457200" y="2148840"/>
            <a:chExt cx="6949440" cy="4398264"/>
          </a:xfrm>
        </p:grpSpPr>
        <p:sp>
          <p:nvSpPr>
            <p:cNvPr id="9" name="Rounded Rectangle 8"/>
            <p:cNvSpPr/>
            <p:nvPr/>
          </p:nvSpPr>
          <p:spPr>
            <a:xfrm>
              <a:off x="457200" y="2148840"/>
              <a:ext cx="6949440" cy="439826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pic>
          <p:nvPicPr>
            <p:cNvPr id="22" name="Picture 21" descr="figura_3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9041" y="2746833"/>
              <a:ext cx="5505576" cy="3303345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7626096" y="4329544"/>
            <a:ext cx="410839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C6B7F"/>
                </a:solidFill>
                <a:latin typeface="Segoe UI"/>
              </a:defRPr>
            </a:pPr>
            <a:r>
              <a:rPr lang="es-AR" sz="1300" noProof="1"/>
              <a:t>Limitación de fuentes: no se identificó en Memoria/EEFF el detalle nominal del Directorio (% independencia, antigüedad) ni una calificación ESG de terceros (LSEG, S&amp;P, MSCI, Sustainalytics) para Aluar. No se estiman ni se fabrican ante su ausencia.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C1 CASH COST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$1,680 / Tn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TARIFA PPA ENERGÍA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$28 - $35 / MWh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COBERTURA RENOVABLE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78.0% Renovable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rPr dirty="0"/>
              <a:t>RATIO ALÚMINA/LME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rPr dirty="0"/>
              <a:t>15.5% </a:t>
            </a:r>
            <a:r>
              <a:rPr dirty="0" err="1"/>
              <a:t>Equilibri</a:t>
            </a:r>
            <a:r>
              <a:rPr lang="es-AR" dirty="0"/>
              <a:t>o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1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1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Detalle / Composición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Cash Cost C1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USD 1.680 / Tn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Percentil 28% de la curva global de costos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Curva CRU / Wood Mackenzie 2025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Primer cuartil de eficiencia global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Central Hidroeléctrica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320 MW asignados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54% del consumo propio (Futaleufú)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Memoria y EEFF Aluar S.A.I.C.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Activo propio, sin exposición a precio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Parque Eólico Propio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200 MW (→582 MW Etapa V)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24% del consumo propio, en expansión (RIGI)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Memoria Aluar / Ministerio de Energía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Ampliación reduce compra futura a 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Cobertura Energética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96% de la demanda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78 p.p. renovable; 18% térmica propia; 4%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Memoria y EEFF Aluar S.A.I.C.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Protege margen ante subas de tarifa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LA EMPRESA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Estructura C1, Abastecimiento Energético y Sensibilidad Alúmina/LME</a:t>
            </a:r>
          </a:p>
        </p:txBody>
      </p:sp>
      <p:pic>
        <p:nvPicPr>
          <p:cNvPr id="15" name="Picture 14" descr="slide21_left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10" y="2039112"/>
            <a:ext cx="4809716" cy="2871216"/>
          </a:xfrm>
          <a:prstGeom prst="rect">
            <a:avLst/>
          </a:prstGeom>
        </p:spPr>
      </p:pic>
      <p:pic>
        <p:nvPicPr>
          <p:cNvPr id="16" name="Picture 15" descr="slide21_right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36" y="2039112"/>
            <a:ext cx="4861295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ACCIÓN Y ESTADÍSTICA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ALUA.BA, estadística y normalidad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BETA OLS (10Y DIARIO)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0.842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VOL. ANUALIZADA ALUA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52.1%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9854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SHARPE HISTÓRICO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1181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CORR. ALUA-MERVAL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1" y="2148840"/>
            <a:ext cx="6418192" cy="22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442202"/>
            <a:ext cx="11277295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b="1" noProof="1">
                <a:latin typeface="Segoe UI"/>
              </a:rPr>
              <a:t>- Beta 0.842 vs S&amp;P 500 (2,376 ruedas USD): insumo crudo del CAPM antes de Blume y Hamada.</a:t>
            </a:r>
          </a:p>
          <a:p>
            <a:pPr>
              <a:spcAft>
                <a:spcPts val="700"/>
              </a:spcAft>
            </a:pPr>
            <a:r>
              <a:rPr lang="es-AR" sz="1050" b="1" noProof="1">
                <a:latin typeface="Segoe UI"/>
              </a:rPr>
              <a:t>- Jarque-Bera rechaza normalidad (curtosis 6.68): riesgo se reporta también con VaR histórico.</a:t>
            </a:r>
            <a:endParaRPr lang="es-AR" sz="1150" noProof="1"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B0AFCF5B-8F57-5245-7693-94102C16F2EB}"/>
              </a:ext>
            </a:extLst>
          </p:cNvPr>
          <p:cNvSpPr/>
          <p:nvPr/>
        </p:nvSpPr>
        <p:spPr>
          <a:xfrm>
            <a:off x="7020560" y="2160510"/>
            <a:ext cx="4777940" cy="22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931BD11-9245-EFBB-4298-774E320FF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64" y="2227957"/>
            <a:ext cx="3679530" cy="21004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C69D89-C9A5-4762-B0E1-C9680F1C4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55" y="2187194"/>
            <a:ext cx="5224037" cy="2149998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1724"/>
              </p:ext>
            </p:extLst>
          </p:nvPr>
        </p:nvGraphicFramePr>
        <p:xfrm>
          <a:off x="457201" y="4988560"/>
          <a:ext cx="11277295" cy="186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750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Estadístico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ALUA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TXAR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Merval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Rend. medio diario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0.07%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Mediana diaria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-0.02%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-0.03%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Vol. anualizada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52.1%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54.3%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48.6%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Asimetría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-0.39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-0.37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-1.25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Curtosis (exceso)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6.68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8.86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34.94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Jarque-Bera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4,392 (p≈0)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7,680 (p≈0)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118,488 (p≈0)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VaR 95% / CVaR 95%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-4.7% / -7.2%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-4.9% / -7.4%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-4.3% / -6.7%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CT_5_0">
            <a:extLst>
              <a:ext uri="{FF2B5EF4-FFF2-40B4-BE49-F238E27FC236}">
                <a16:creationId xmlns:a16="http://schemas.microsoft.com/office/drawing/2014/main" id="{AC770D52-6117-4652-5246-FCF452067776}"/>
              </a:ext>
            </a:extLst>
          </p:cNvPr>
          <p:cNvSpPr txBox="1"/>
          <p:nvPr/>
        </p:nvSpPr>
        <p:spPr>
          <a:xfrm>
            <a:off x="7480300" y="2222500"/>
            <a:ext cx="38227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Distribución de retornos diarios</a:t>
            </a:r>
          </a:p>
        </p:txBody>
      </p:sp>
      <p:sp>
        <p:nvSpPr>
          <p:cNvPr id="10" name="CT_5_1">
            <a:extLst>
              <a:ext uri="{FF2B5EF4-FFF2-40B4-BE49-F238E27FC236}">
                <a16:creationId xmlns:a16="http://schemas.microsoft.com/office/drawing/2014/main" id="{ABAC2CB3-B4AD-5FD4-9B6D-C6BA12C5A426}"/>
              </a:ext>
            </a:extLst>
          </p:cNvPr>
          <p:cNvSpPr txBox="1"/>
          <p:nvPr/>
        </p:nvSpPr>
        <p:spPr>
          <a:xfrm>
            <a:off x="1028700" y="2184400"/>
            <a:ext cx="52197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Evolución del precio ALUA vs. mercado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5124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54864" rIns="457200" bIns="18288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ACCIÓN Y ESTADÍSTICA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Normalidad de retornos y VaR ajustado (Cornish-Fisher)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-82.9%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MÁXIMO DRAWDOWN (10Y)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299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8.6%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R² REGRESIÓN 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9398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0.056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 ESTÁNDAR BETA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0497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-32.8%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CVaR 21 RUEDAS (95%)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7455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10" name="TextBox 9"/>
          <p:cNvSpPr txBox="1"/>
          <p:nvPr/>
        </p:nvSpPr>
        <p:spPr>
          <a:xfrm>
            <a:off x="457200" y="5870448"/>
            <a:ext cx="1127455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Exceso de curtosis (6.68) y asimetría negativa (-0.39) denotan colas pesadas.</a:t>
            </a: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El R² del 8.6% indica un alto riesgo idiosincrático local (desacople del S&amp;P500).</a:t>
            </a: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El máximo drawdown histórico (-82.9%) refleja extrema volatilidad en USD.</a:t>
            </a:r>
          </a:p>
        </p:txBody>
      </p:sp>
      <p:pic>
        <p:nvPicPr>
          <p:cNvPr id="11" name="Picture 10" descr="fix_var_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424" y="2212848"/>
            <a:ext cx="5602104" cy="34381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RATIOS FINANCIEROS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¿Cómo han evolucionado los principales ratios?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3512" y="5225453"/>
            <a:ext cx="5277906" cy="7360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noProof="1">
                <a:latin typeface="Segoe UI"/>
              </a:rPr>
              <a:t>- Deuda/PN &lt; 0.6 , apalancamiento operativo alto: deuda neta llegó a 3,2x EBITDA en 2025 por CAPEX eólico.</a:t>
            </a:r>
          </a:p>
          <a:p>
            <a:pPr>
              <a:spcAft>
                <a:spcPts val="700"/>
              </a:spcAft>
            </a:pPr>
            <a:r>
              <a:rPr lang="es-AR" sz="1050" noProof="1">
                <a:latin typeface="Segoe UI"/>
              </a:rPr>
              <a:t>- ROIC de 2025 (3.5%) por debajo del WACC (7.06%), spread -3.5%. Destrucción transitoria propia del ciclo de inversión.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982A409-2F63-DA68-3105-36AAEEE6A08D}"/>
              </a:ext>
            </a:extLst>
          </p:cNvPr>
          <p:cNvGrpSpPr/>
          <p:nvPr/>
        </p:nvGrpSpPr>
        <p:grpSpPr>
          <a:xfrm>
            <a:off x="6763512" y="704088"/>
            <a:ext cx="5277906" cy="4235377"/>
            <a:chOff x="6400800" y="960120"/>
            <a:chExt cx="5788191" cy="4288536"/>
          </a:xfrm>
        </p:grpSpPr>
        <p:sp>
          <p:nvSpPr>
            <p:cNvPr id="3" name="Rounded Rectangle 3"/>
            <p:cNvSpPr/>
            <p:nvPr/>
          </p:nvSpPr>
          <p:spPr>
            <a:xfrm>
              <a:off x="6400800" y="960120"/>
              <a:ext cx="5788191" cy="428853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AR" noProof="1"/>
            </a:p>
          </p:txBody>
        </p:sp>
        <p:pic>
          <p:nvPicPr>
            <p:cNvPr id="9" name="Picture 8" descr="s21_roic_vs_wacc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2212" y="1410525"/>
              <a:ext cx="4736784" cy="3764976"/>
            </a:xfrm>
            <a:prstGeom prst="rect">
              <a:avLst/>
            </a:prstGeom>
          </p:spPr>
        </p:pic>
      </p:grp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07442"/>
              </p:ext>
            </p:extLst>
          </p:nvPr>
        </p:nvGraphicFramePr>
        <p:xfrm>
          <a:off x="73363" y="711673"/>
          <a:ext cx="6550761" cy="5763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2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718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Categoría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Ratio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2021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2022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2023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2024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Tendencia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 corriente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2.92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2.92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4.93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2.44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 ácida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9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Solvencia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Deuda / PN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0.52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0.29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0.42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0.49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0.54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Solvencia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Deuda neta /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Solvencia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Cobertura de intereses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4.12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28.35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3.87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11.63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3.53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Rentabilidad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Margen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9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1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Rentabilidad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ROE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8.0%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23.3%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10.7%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0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1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Rentabilidad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ROIC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1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Financieros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EV/EBITDA (al cierre)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10.2x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4.6x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21.2x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11.0x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11.8x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605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Financieros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P/E (distorsionado NIC 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153.5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Inversión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CAPEX / Ventas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10.2%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22.3%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Creación de valor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Spread ROIC - WACC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+10.8%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CT_6_0">
            <a:extLst>
              <a:ext uri="{FF2B5EF4-FFF2-40B4-BE49-F238E27FC236}">
                <a16:creationId xmlns:a16="http://schemas.microsoft.com/office/drawing/2014/main" id="{64B0C540-0BE5-8FE9-30B5-54F88AFC807C}"/>
              </a:ext>
            </a:extLst>
          </p:cNvPr>
          <p:cNvSpPr txBox="1"/>
          <p:nvPr/>
        </p:nvSpPr>
        <p:spPr>
          <a:xfrm>
            <a:off x="7213600" y="1143000"/>
            <a:ext cx="43180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</a:rPr>
              <a:t>Ratios financieros históricos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non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COSTO DE CAPITAL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Beta (OLS, Blume, Hamada) y WACC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BETA OLS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noProof="1">
                <a:latin typeface="+mj-lt"/>
              </a:rPr>
              <a:t>0.842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BETA APALANCADO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0.888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912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KE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9.3%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KD POST-TAX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64624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WACC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7.06%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330488"/>
              </p:ext>
            </p:extLst>
          </p:nvPr>
        </p:nvGraphicFramePr>
        <p:xfrm>
          <a:off x="457200" y="2212848"/>
          <a:ext cx="53949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Método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Beta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Nota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OLS (10 años, diario)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n=2,376 obs. contra el S&amp;P 500 (Dumrauf describe esto citando a Godfrey).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Blume (ajuste hacia 1)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0.895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2/3 × beta + 1/3: insumo del Ke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Hamada, desapalancado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Con D/E histórico = 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Hamada, reapalancado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0.888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Con D/E objetivo = 0.486, usado en el CAPM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25896" y="2212848"/>
            <a:ext cx="5696712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2141" y="2212848"/>
            <a:ext cx="438250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2545"/>
                </a:solidFill>
                <a:latin typeface="Georgia"/>
              </a:defRPr>
            </a:pPr>
            <a:r>
              <a:rPr lang="es-AR" noProof="1"/>
              <a:t>Composición del costo de capital (WACC)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7455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latin typeface="Segoe UI"/>
              </a:defRPr>
            </a:pPr>
            <a:r>
              <a:rPr lang="es-AR" noProof="1"/>
              <a:t>Blume corrige la reversión del beta hacia la unidad. </a:t>
            </a:r>
          </a:p>
          <a:p>
            <a:pPr>
              <a:defRPr sz="1050">
                <a:latin typeface="Segoe UI"/>
              </a:defRPr>
            </a:pPr>
            <a:r>
              <a:rPr lang="es-AR" noProof="1"/>
              <a:t>Hamada desapalanca con la estructura histórica y reapalanca con la estructura objetivo, para que el riesgo financiero del CAPM sea el que la firma efectivamente va a soportar.</a:t>
            </a:r>
          </a:p>
          <a:p>
            <a:pPr>
              <a:defRPr sz="1050">
                <a:latin typeface="Segoe UI"/>
              </a:defRPr>
            </a:pPr>
            <a:r>
              <a:rPr lang="es-AR" b="1" noProof="1"/>
              <a:t>WACC 7.06% = E/V 67.3% × Ke 9.30% + D/V 32.7% × Kd (1-t) 2.47%.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05AF76E-F308-A4D1-99DE-C411745C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325" y="2521797"/>
            <a:ext cx="5504139" cy="2464685"/>
          </a:xfrm>
          <a:prstGeom prst="rect">
            <a:avLst/>
          </a:prstGeom>
        </p:spPr>
      </p:pic>
      <p:sp>
        <p:nvSpPr>
          <p:cNvPr id="17" name="TextBox 5">
            <a:extLst>
              <a:ext uri="{FF2B5EF4-FFF2-40B4-BE49-F238E27FC236}">
                <a16:creationId xmlns:a16="http://schemas.microsoft.com/office/drawing/2014/main" id="{E52BD8AE-03E6-56A8-282A-43D8C8D07EFD}"/>
              </a:ext>
            </a:extLst>
          </p:cNvPr>
          <p:cNvSpPr txBox="1"/>
          <p:nvPr/>
        </p:nvSpPr>
        <p:spPr>
          <a:xfrm>
            <a:off x="6094476" y="5329005"/>
            <a:ext cx="534009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800" i="1" noProof="1">
                <a:solidFill>
                  <a:srgbClr val="5C6B7F"/>
                </a:solidFill>
                <a:latin typeface="Segoe UI"/>
              </a:rPr>
              <a:t>Fuente: Elaboracion Propia</a:t>
            </a:r>
            <a:endParaRPr lang="es-AR" sz="800" b="0" i="1" noProof="1">
              <a:solidFill>
                <a:srgbClr val="5C6B7F"/>
              </a:solidFill>
              <a:latin typeface="Segoe U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METODOLOGÍA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Supuestos del modelo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675739"/>
              </p:ext>
            </p:extLst>
          </p:nvPr>
        </p:nvGraphicFramePr>
        <p:xfrm>
          <a:off x="457200" y="960120"/>
          <a:ext cx="11274552" cy="50967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Segoe UI"/>
                        </a:defRPr>
                      </a:pPr>
                      <a:r>
                        <a:rPr lang="es-AR" sz="1000" b="1" noProof="1">
                          <a:solidFill>
                            <a:srgbClr val="FFFFFF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000" b="1" noProof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000" b="1" noProof="1">
                          <a:solidFill>
                            <a:srgbClr val="FFFFFF"/>
                          </a:solidFill>
                          <a:latin typeface="Segoe UI"/>
                        </a:rPr>
                        <a:t>Fuente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Tasa libre de riesgo (Rf)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4.70%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6: Tesoro de EE.UU. a 10 años, cierre del 23-jul-2026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Prima por riesgo de mercado (ERP)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4.18%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8 / Damodaran (NYU Stern), julio 2026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Retorno del mercado (Rm)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8.88%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Rm = Rf + ERP, sobre el S&amp;P 500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Riesgo país ponderado (Lambda × EMBI+)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0.20 × 441 pb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6 y 14 / Damodaran: Lambda = ventas al mercado interno / ventas totales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Continuidad del programa economico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Se asume sostenida 2026E-2030E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El EMBI+ de 441 pb y el WACC de 7,06% reflejan la compresion vigente. Ver Riesgo 4 (reversion si no se sostiene el programa)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165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Beta apalancado (Hamada)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0.888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10: OLS a 10 años, Blume y Hamada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Alícuota de ganancias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35.0%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Ley 20.628: alícuota estatutaria plana los cinco años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WACC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7.06%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12: Ke × E/V + Kd × (1 − t) × D/V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Crecimiento perpetuo (g)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2.00%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14: convergencia suavizada al crecimiento de largo plazo. Capacidad instalada saturada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Capacidad instalada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460.000 Tn/año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Memoria Anual: planta de Puerto Madryn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Factor de utilización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94%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Entre la mediana de seis ejercicios (89,5%) y la de los últimos tres (96,4%)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Cash cost C1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1.680/Tn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Curva de costos global de productores primarios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Aluminio LME de largo plazo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2.587/Tn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Media de la serie mensual del LME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Deuda neta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456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Posición financiera neta al cierre del 1T26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Acciones en circulación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2.800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Estados Financieros: resultado por acción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Tipo de cambio (CCL)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1,584.2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Contado con liquidación implícito al 23-jul-2026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terminal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Flujo normalizado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14: en estado estacionario CAPEX = D&amp;A y Δ NWC = 0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PROYECCIONES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FCFF histórico y proyectado 2020-2030E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3889" y="5417666"/>
            <a:ext cx="659759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00" noProof="1">
                <a:latin typeface="Segoe UI"/>
              </a:rPr>
              <a:t>2020-2025: FCFF se hunde en 2025 por CAPEX récord eólico (22.3% de ventas, 10× el nivel anterior). </a:t>
            </a:r>
          </a:p>
          <a:p>
            <a:pPr>
              <a:spcAft>
                <a:spcPts val="700"/>
              </a:spcAft>
            </a:pPr>
            <a:endParaRPr lang="es-AR" sz="1050" noProof="1">
              <a:latin typeface="Segoe UI"/>
            </a:endParaRPr>
          </a:p>
          <a:p>
            <a:pPr>
              <a:spcAft>
                <a:spcPts val="700"/>
              </a:spcAft>
            </a:pPr>
            <a:r>
              <a:rPr sz="1000" dirty="0"/>
              <a:t>2026E-2030E: </a:t>
            </a:r>
            <a:r>
              <a:rPr sz="1000" dirty="0" err="1"/>
              <a:t>cerrado</a:t>
            </a:r>
            <a:r>
              <a:rPr sz="1000" dirty="0"/>
              <a:t> </a:t>
            </a:r>
            <a:r>
              <a:rPr sz="1000" dirty="0" err="1"/>
              <a:t>ciclo</a:t>
            </a:r>
            <a:r>
              <a:rPr sz="1000" dirty="0"/>
              <a:t> de </a:t>
            </a:r>
            <a:r>
              <a:rPr sz="1000" dirty="0" err="1"/>
              <a:t>inversión</a:t>
            </a:r>
            <a:r>
              <a:rPr sz="1000" dirty="0"/>
              <a:t>, </a:t>
            </a:r>
            <a:r>
              <a:rPr sz="1000" dirty="0" err="1"/>
              <a:t>flujo</a:t>
            </a:r>
            <a:r>
              <a:rPr sz="1000" dirty="0"/>
              <a:t> se </a:t>
            </a:r>
            <a:r>
              <a:rPr sz="1000" dirty="0" err="1"/>
              <a:t>estabiliza</a:t>
            </a:r>
            <a:r>
              <a:rPr sz="1000" dirty="0"/>
              <a:t> entre USD 177-201 MM/</a:t>
            </a:r>
            <a:r>
              <a:rPr sz="1000" dirty="0" err="1"/>
              <a:t>año</a:t>
            </a:r>
            <a:r>
              <a:rPr sz="1000" dirty="0"/>
              <a:t>, </a:t>
            </a:r>
            <a:r>
              <a:rPr sz="1000" dirty="0" err="1"/>
              <a:t>ingresos</a:t>
            </a:r>
            <a:r>
              <a:rPr sz="1000" dirty="0"/>
              <a:t> </a:t>
            </a:r>
            <a:r>
              <a:rPr sz="1000" dirty="0" err="1"/>
              <a:t>acotados</a:t>
            </a:r>
            <a:r>
              <a:rPr sz="1000" dirty="0"/>
              <a:t> </a:t>
            </a:r>
            <a:r>
              <a:rPr sz="1000" dirty="0" err="1"/>
              <a:t>por</a:t>
            </a:r>
            <a:r>
              <a:rPr sz="1000" dirty="0"/>
              <a:t> </a:t>
            </a:r>
            <a:r>
              <a:rPr sz="1000" dirty="0" err="1"/>
              <a:t>techo</a:t>
            </a:r>
            <a:r>
              <a:rPr sz="1000" dirty="0"/>
              <a:t> </a:t>
            </a:r>
            <a:r>
              <a:rPr sz="1000" dirty="0" err="1"/>
              <a:t>físico</a:t>
            </a:r>
            <a:r>
              <a:rPr sz="1000" dirty="0"/>
              <a:t> de 460.000 Tn y </a:t>
            </a:r>
            <a:r>
              <a:rPr sz="1000" dirty="0" err="1"/>
              <a:t>precio</a:t>
            </a:r>
            <a:r>
              <a:rPr sz="1000" dirty="0"/>
              <a:t> </a:t>
            </a:r>
            <a:r>
              <a:rPr sz="1000" dirty="0" err="1"/>
              <a:t>que</a:t>
            </a:r>
            <a:r>
              <a:rPr sz="1000" dirty="0"/>
              <a:t> </a:t>
            </a:r>
            <a:r>
              <a:rPr sz="1000" dirty="0" err="1"/>
              <a:t>revierte</a:t>
            </a:r>
            <a:r>
              <a:rPr sz="1000" dirty="0"/>
              <a:t> a la media del LME.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608659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796833"/>
              </p:ext>
            </p:extLst>
          </p:nvPr>
        </p:nvGraphicFramePr>
        <p:xfrm>
          <a:off x="89663" y="651749"/>
          <a:ext cx="12012673" cy="2885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3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1439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879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Métrica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2020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2021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2022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2023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2024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2026E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2027E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2028E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2029E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2030E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Tend.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7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Ingresos (USD MM)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823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514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655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648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1,093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1,591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1,543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1,495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1,446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1,398</a:t>
                      </a:r>
                      <a:endParaRPr lang="es-AR" sz="1200" b="0" noProof="1"/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Margen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21.7%</a:t>
                      </a:r>
                      <a:endParaRPr lang="es-AR" sz="1200" b="0" noProof="1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Margen EBIT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5.8%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11.9%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9.6%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8.4%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17.8%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17.06%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16.4%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15.7%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14.9%</a:t>
                      </a:r>
                      <a:endParaRPr lang="es-AR" sz="1200" b="0" noProof="1"/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EBIT (USD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/>
                        <a:t>208</a:t>
                      </a:r>
                      <a:endParaRPr lang="es-AR" sz="1200" b="0" noProof="1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NOPAT (USD MM)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31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40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40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184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172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148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135</a:t>
                      </a:r>
                      <a:endParaRPr lang="es-AR" sz="1200" b="0" noProof="1"/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CAPEX (USD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91</a:t>
                      </a:r>
                      <a:endParaRPr lang="es-AR" sz="1200" b="0" noProof="1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FCFF (USD MM)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-3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79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141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126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-113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-57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201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188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176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164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8911D8B3-6E63-E4D5-247A-5B2492559317}"/>
              </a:ext>
            </a:extLst>
          </p:cNvPr>
          <p:cNvGrpSpPr/>
          <p:nvPr/>
        </p:nvGrpSpPr>
        <p:grpSpPr>
          <a:xfrm>
            <a:off x="89663" y="3680724"/>
            <a:ext cx="4893370" cy="3051045"/>
            <a:chOff x="1399031" y="3925499"/>
            <a:chExt cx="4980432" cy="2839422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C452415B-533C-3CC3-71C1-DC7B011073FF}"/>
                </a:ext>
              </a:extLst>
            </p:cNvPr>
            <p:cNvGrpSpPr/>
            <p:nvPr/>
          </p:nvGrpSpPr>
          <p:grpSpPr>
            <a:xfrm>
              <a:off x="1399031" y="3925499"/>
              <a:ext cx="4980432" cy="2839422"/>
              <a:chOff x="1524393" y="3637221"/>
              <a:chExt cx="5661670" cy="348974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524393" y="3637221"/>
                <a:ext cx="5661670" cy="3483864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6" name="Picture 5" descr="s18b_fcff_bridge_annual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4616" y="3856644"/>
                <a:ext cx="5337018" cy="3270318"/>
              </a:xfrm>
              <a:prstGeom prst="rect">
                <a:avLst/>
              </a:prstGeom>
            </p:spPr>
          </p:pic>
        </p:grpSp>
        <p:sp>
          <p:nvSpPr>
            <p:cNvPr id="4" name="CT_12_0">
              <a:extLst>
                <a:ext uri="{FF2B5EF4-FFF2-40B4-BE49-F238E27FC236}">
                  <a16:creationId xmlns:a16="http://schemas.microsoft.com/office/drawing/2014/main" id="{D4A4F4D6-3C22-598C-F3F2-B198B9705B8E}"/>
                </a:ext>
              </a:extLst>
            </p:cNvPr>
            <p:cNvSpPr txBox="1"/>
            <p:nvPr/>
          </p:nvSpPr>
          <p:spPr>
            <a:xfrm>
              <a:off x="1504787" y="3987574"/>
              <a:ext cx="4795935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FCFF histórico y proyectado 2020-2030E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D23E12F-4EA8-31B0-CAB3-F91DE2D9CCB6}"/>
              </a:ext>
            </a:extLst>
          </p:cNvPr>
          <p:cNvGrpSpPr/>
          <p:nvPr/>
        </p:nvGrpSpPr>
        <p:grpSpPr>
          <a:xfrm>
            <a:off x="5167223" y="3689839"/>
            <a:ext cx="6935113" cy="1576038"/>
            <a:chOff x="2236125" y="3429000"/>
            <a:chExt cx="7988389" cy="2995351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9B9FAE1-DA08-D5E3-4DCC-014C96249BB4}"/>
                </a:ext>
              </a:extLst>
            </p:cNvPr>
            <p:cNvGrpSpPr/>
            <p:nvPr/>
          </p:nvGrpSpPr>
          <p:grpSpPr>
            <a:xfrm>
              <a:off x="2236125" y="3429000"/>
              <a:ext cx="7988389" cy="2995351"/>
              <a:chOff x="2554922" y="4206239"/>
              <a:chExt cx="6863397" cy="2211951"/>
            </a:xfrm>
          </p:grpSpPr>
          <p:sp>
            <p:nvSpPr>
              <p:cNvPr id="16" name="Rounded Rectangle 8">
                <a:extLst>
                  <a:ext uri="{FF2B5EF4-FFF2-40B4-BE49-F238E27FC236}">
                    <a16:creationId xmlns:a16="http://schemas.microsoft.com/office/drawing/2014/main" id="{9CB7A5B8-FA8A-E7D2-FCB1-3FAD9759F8D8}"/>
                  </a:ext>
                </a:extLst>
              </p:cNvPr>
              <p:cNvSpPr/>
              <p:nvPr/>
            </p:nvSpPr>
            <p:spPr>
              <a:xfrm>
                <a:off x="2554922" y="4206239"/>
                <a:ext cx="6863397" cy="2194559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17" name="Picture 9" descr="s07b_vertical_analysis.png">
                <a:extLst>
                  <a:ext uri="{FF2B5EF4-FFF2-40B4-BE49-F238E27FC236}">
                    <a16:creationId xmlns:a16="http://schemas.microsoft.com/office/drawing/2014/main" id="{1B0DDDD6-4841-ED14-8C90-A123520771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56086" y="4406511"/>
                <a:ext cx="4861068" cy="2011679"/>
              </a:xfrm>
              <a:prstGeom prst="rect">
                <a:avLst/>
              </a:prstGeom>
            </p:spPr>
          </p:pic>
        </p:grpSp>
        <p:sp>
          <p:nvSpPr>
            <p:cNvPr id="15" name="CT_11_0">
              <a:extLst>
                <a:ext uri="{FF2B5EF4-FFF2-40B4-BE49-F238E27FC236}">
                  <a16:creationId xmlns:a16="http://schemas.microsoft.com/office/drawing/2014/main" id="{E16D56FC-102C-E540-DF7B-93DE992353F3}"/>
                </a:ext>
              </a:extLst>
            </p:cNvPr>
            <p:cNvSpPr txBox="1"/>
            <p:nvPr/>
          </p:nvSpPr>
          <p:spPr>
            <a:xfrm>
              <a:off x="2879387" y="3556001"/>
              <a:ext cx="6489699" cy="574871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Esquema del flujo de fondos FCFF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DCF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Enterprise Value a Precio Objetivo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57445"/>
              </p:ext>
            </p:extLst>
          </p:nvPr>
        </p:nvGraphicFramePr>
        <p:xfrm>
          <a:off x="457200" y="960120"/>
          <a:ext cx="5120640" cy="4160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Componente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presente de los flujos explícitos (2026E-2030E)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563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Flujo terminal normalizado (= NOPAT 2030E)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135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presente del valor terminal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2,077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Enterprise Value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2,640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(−) Deuda neta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456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de las acciones/Equity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2,184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Precio objetivo (ARS por acción)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1,236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806440" y="960120"/>
            <a:ext cx="6099048" cy="4288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pic>
        <p:nvPicPr>
          <p:cNvPr id="6" name="Picture 5" descr="s23_dcf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100" y="1110067"/>
            <a:ext cx="5100256" cy="3909987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A02E1B45-AA72-147D-666E-A217BCB39859}"/>
              </a:ext>
            </a:extLst>
          </p:cNvPr>
          <p:cNvGrpSpPr/>
          <p:nvPr/>
        </p:nvGrpSpPr>
        <p:grpSpPr>
          <a:xfrm>
            <a:off x="457200" y="5417820"/>
            <a:ext cx="11448288" cy="960120"/>
            <a:chOff x="457200" y="5394960"/>
            <a:chExt cx="11277294" cy="960120"/>
          </a:xfrm>
        </p:grpSpPr>
        <p:sp>
          <p:nvSpPr>
            <p:cNvPr id="7" name="Rounded Rectangle 6"/>
            <p:cNvSpPr/>
            <p:nvPr/>
          </p:nvSpPr>
          <p:spPr>
            <a:xfrm>
              <a:off x="457200" y="5394960"/>
              <a:ext cx="3673754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</a:rPr>
                <a:t>PRECIO DE MERCADO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+mj-lt"/>
                </a:rPr>
                <a:t>ARS 982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58970" y="5394960"/>
              <a:ext cx="3673754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</a:rPr>
                <a:t>PRECIO OBJETIVO</a:t>
              </a:r>
            </a:p>
            <a:p>
              <a:pPr algn="l"/>
              <a:endParaRPr lang="es-AR" sz="850" b="1" noProof="1">
                <a:solidFill>
                  <a:schemeClr val="tx2">
                    <a:lumMod val="50000"/>
                  </a:schemeClr>
                </a:solidFill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ARS 1,236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060740" y="5394960"/>
              <a:ext cx="3673754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</a:rPr>
                <a:t>UPSIDE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</a:rPr>
                <a:t>+</a:t>
              </a:r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25.8</a:t>
              </a:r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</a:rPr>
                <a:t>%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sp>
        <p:nvSpPr>
          <p:cNvPr id="10" name="CT_13_0">
            <a:extLst>
              <a:ext uri="{FF2B5EF4-FFF2-40B4-BE49-F238E27FC236}">
                <a16:creationId xmlns:a16="http://schemas.microsoft.com/office/drawing/2014/main" id="{66E45EFD-DEBA-39AC-411A-E2E75D3A78DE}"/>
              </a:ext>
            </a:extLst>
          </p:cNvPr>
          <p:cNvSpPr txBox="1"/>
          <p:nvPr/>
        </p:nvSpPr>
        <p:spPr>
          <a:xfrm>
            <a:off x="6372046" y="1121805"/>
            <a:ext cx="51054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</a:rPr>
              <a:t>Distribución del Enterprise Value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non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FINANZAS CORPORATIVAS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Estabilización del FCFF y re-rating mecánico del EV/EBITDA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74182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03" y="1240840"/>
            <a:ext cx="3674976" cy="3981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012240"/>
            <a:ext cx="5427878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Georgia"/>
              </a:defRPr>
            </a:pPr>
            <a:r>
              <a:rPr lang="es-AR" noProof="1"/>
              <a:t>FCFF: por qué 2026E es negativo y cómo se estabiliza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60120"/>
            <a:ext cx="5577840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82" y="1469440"/>
            <a:ext cx="3611099" cy="391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27064" y="1012240"/>
            <a:ext cx="5431536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Georgia"/>
              </a:defRPr>
            </a:pPr>
            <a:r>
              <a:rPr lang="es-AR" noProof="1"/>
              <a:t>EV/EBITDA: EBITDA se normaliza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45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Segoe UI"/>
              </a:defRPr>
            </a:pPr>
            <a:r>
              <a:t> El FCFF 2026E (-USD 57 MM) es un efecto del capex y NWC, no una señal operativa. Desde 2027E el FCFF se estabiliza en USD 177-201 MM/año al normalizarse el ΔNWC.</a:t>
            </a:r>
          </a:p>
          <a:p>
            <a:pPr>
              <a:defRPr sz="1000">
                <a:latin typeface="Segoe UI"/>
              </a:defRPr>
            </a:pPr>
            <a:r>
              <a:rPr lang="es-AR" noProof="1"/>
              <a:t> </a:t>
            </a:r>
          </a:p>
          <a:p>
            <a:pPr>
              <a:defRPr sz="1000">
                <a:latin typeface="Segoe UI"/>
              </a:defRPr>
            </a:pPr>
            <a:r>
              <a:rPr lang="es-AR" noProof="1"/>
              <a:t>El EBITDA viene deprimido y bajando, pero salta de USD 163 MM (FY25, deprimido) a un pico de USD 391 MM (2026E, +140%) y recién ahí se modera a USD 304 MM (2030E) por el precio del aluminio, un piso 86% arriba de FY25 (no una caída hacia debilidad).</a:t>
            </a:r>
          </a:p>
          <a:p>
            <a:pPr>
              <a:defRPr sz="1000">
                <a:latin typeface="Segoe UI"/>
              </a:defRPr>
            </a:pPr>
            <a:endParaRPr lang="es-AR" noProof="1"/>
          </a:p>
          <a:p>
            <a:pPr>
              <a:defRPr sz="1000">
                <a:latin typeface="Segoe UI"/>
              </a:defRPr>
            </a:pPr>
            <a:r>
              <a:rPr lang="es-AR" noProof="1"/>
              <a:t>El EV del DCF es fijo (USD 2.639,6 MM); dividido por un EBITDA que se modera post-pico, el múltiplo EV/EBITDA implícito sube de 6,7 a 8,7 sin que el negocio se encarezca.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EE3C56-9DCC-FC35-2A78-A052B7948A4F}"/>
              </a:ext>
            </a:extLst>
          </p:cNvPr>
          <p:cNvSpPr/>
          <p:nvPr/>
        </p:nvSpPr>
        <p:spPr>
          <a:xfrm>
            <a:off x="457200" y="1693216"/>
            <a:ext cx="8292662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VALUACIÓN RELATIVA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ALUAR cotiza más caro que sus pares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79992" y="1911163"/>
            <a:ext cx="2715768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A un múltiplo EV/EBITDA Forward 2026E de 6.75, ALUAR cotiza a un descuento nulo (-0.7%) frente a la mediana de pares globales (6.80).</a:t>
            </a:r>
          </a:p>
          <a:p>
            <a:endParaRPr lang="es-AR" sz="1050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El múltiplo LTM histórico de 13.3 refleja puramente un EBITDA deprimido en FY25, no un encarecimiento estructural.</a:t>
            </a:r>
          </a:p>
          <a:p>
            <a:endParaRPr lang="es-AR" sz="1050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Con la normalización operativa de 2026E, el múltiplo implícito del modelo converge casi perfectamente a la mediana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pic>
        <p:nvPicPr>
          <p:cNvPr id="10" name="Picture 9" descr="ev_ebitda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2128"/>
            <a:ext cx="8229600" cy="4114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B620A04-7DBB-B7B5-0C02-A1254D3ADCD5}"/>
              </a:ext>
            </a:extLst>
          </p:cNvPr>
          <p:cNvSpPr txBox="1"/>
          <p:nvPr/>
        </p:nvSpPr>
        <p:spPr>
          <a:xfrm>
            <a:off x="1554874" y="1890051"/>
            <a:ext cx="60973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Georgia"/>
              </a:defRPr>
            </a:pPr>
            <a:r>
              <a:rPr lang="es-AR" sz="1200" noProof="1"/>
              <a:t>EV/EBITDA: Comparables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RIESGO</a:t>
            </a:r>
            <a:endParaRPr lang="es-AR" sz="1850" b="1" noProof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Escenarios, shocks y valor a riesgo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334816"/>
              </p:ext>
            </p:extLst>
          </p:nvPr>
        </p:nvGraphicFramePr>
        <p:xfrm>
          <a:off x="459943" y="749340"/>
          <a:ext cx="11274552" cy="25342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312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Escenario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Precio (ARS)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Metodología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1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Bajista (P5)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844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Percentil 5 de 20,000 corridas de Monte Carlo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31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Base (DCF)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1,236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WACC 7.06%, g 2.0%, flujo terminal normalizado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1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Alcista (P95)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1,737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Percentil 95 de la misma simulación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Mediana de la simulación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1,237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Percentil 50. Probabilidad de superar al mercado: 85.2%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042357"/>
                  </a:ext>
                </a:extLst>
              </a:tr>
              <a:tr h="339897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WACC +150 pb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907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Sensibilidad del costo de capital, con flujos constantes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50790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Precio del aluminio −20%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522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Shock sobre el precio realizado, con volumen físico constante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9898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" y="3370586"/>
            <a:ext cx="4931999" cy="276660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58861" y="3370586"/>
            <a:ext cx="5576605" cy="276660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943" y="6285764"/>
            <a:ext cx="11277295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b="1" noProof="1">
                <a:solidFill>
                  <a:srgbClr val="E8833A"/>
                </a:solidFill>
                <a:latin typeface="Segoe UI"/>
              </a:rPr>
              <a:t> </a:t>
            </a:r>
            <a:r>
              <a:rPr lang="es-AR" sz="1050" b="1" noProof="1">
                <a:latin typeface="Segoe UI"/>
              </a:rPr>
              <a:t>DCF base ARS 1,236 (+25.8% vs mercado ARS 982). VaR 95% histórico -4.7%, CVaR 95% -7.2%. VaR paramétrico normal da -5.3% y subestima la cola (Jarque-Bera rechaza normalidad).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6C57568-B616-AD63-24A6-2303B35D706F}"/>
              </a:ext>
            </a:extLst>
          </p:cNvPr>
          <p:cNvGrpSpPr/>
          <p:nvPr/>
        </p:nvGrpSpPr>
        <p:grpSpPr>
          <a:xfrm>
            <a:off x="1054100" y="3719249"/>
            <a:ext cx="3975135" cy="2102310"/>
            <a:chOff x="1054100" y="3719249"/>
            <a:chExt cx="3975135" cy="2102310"/>
          </a:xfrm>
        </p:grpSpPr>
        <p:sp>
          <p:nvSpPr>
            <p:cNvPr id="3" name="CT_14_0">
              <a:extLst>
                <a:ext uri="{FF2B5EF4-FFF2-40B4-BE49-F238E27FC236}">
                  <a16:creationId xmlns:a16="http://schemas.microsoft.com/office/drawing/2014/main" id="{6CC1D5D0-E034-691C-E49C-B8B8FCA26DDA}"/>
                </a:ext>
              </a:extLst>
            </p:cNvPr>
            <p:cNvSpPr txBox="1"/>
            <p:nvPr/>
          </p:nvSpPr>
          <p:spPr>
            <a:xfrm>
              <a:off x="1054100" y="3721100"/>
              <a:ext cx="3975100" cy="239738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Simulación de Monte Carlo</a:t>
              </a:r>
            </a:p>
          </p:txBody>
        </p:sp>
        <p:pic>
          <p:nvPicPr>
            <p:cNvPr id="15" name="Picture 14" descr="fix_mc_histograma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364" y="3719249"/>
              <a:ext cx="3968871" cy="2102310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A83BA43-6312-1D51-2092-ED670D0974A1}"/>
              </a:ext>
            </a:extLst>
          </p:cNvPr>
          <p:cNvGrpSpPr/>
          <p:nvPr/>
        </p:nvGrpSpPr>
        <p:grpSpPr>
          <a:xfrm>
            <a:off x="6458712" y="3375922"/>
            <a:ext cx="3908540" cy="2755247"/>
            <a:chOff x="6019800" y="3441700"/>
            <a:chExt cx="3746500" cy="2605794"/>
          </a:xfrm>
        </p:grpSpPr>
        <p:pic>
          <p:nvPicPr>
            <p:cNvPr id="14" name="Picture 13" descr="s36_var_cvar_modeloA_fix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800" y="3520426"/>
              <a:ext cx="3744376" cy="2527068"/>
            </a:xfrm>
            <a:prstGeom prst="rect">
              <a:avLst/>
            </a:prstGeom>
          </p:spPr>
        </p:pic>
        <p:sp>
          <p:nvSpPr>
            <p:cNvPr id="8" name="CT_14_1">
              <a:extLst>
                <a:ext uri="{FF2B5EF4-FFF2-40B4-BE49-F238E27FC236}">
                  <a16:creationId xmlns:a16="http://schemas.microsoft.com/office/drawing/2014/main" id="{2F685A20-604E-4B04-B2A1-743D702D0865}"/>
                </a:ext>
              </a:extLst>
            </p:cNvPr>
            <p:cNvSpPr txBox="1"/>
            <p:nvPr/>
          </p:nvSpPr>
          <p:spPr>
            <a:xfrm>
              <a:off x="6019800" y="3441700"/>
              <a:ext cx="3746500" cy="291082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VaR y ES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VALUACIÓN</a:t>
            </a:r>
            <a:endParaRPr lang="es-AR" sz="1850" b="1" noProof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Marco de Escenarios: Bear / Base / Bull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" y="388620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b="0" noProof="1">
                <a:latin typeface="Segoe UI"/>
              </a:rPr>
              <a:t>Ponderando por probabilidad (25/50/25%), el valor esperado es ARS 1.184,00 (-4,2% vs. caso base): el downside del Bear pesa más que el upside del Bull, reflejando la mayor sensibilidad del modelo a g que al WACC.</a:t>
            </a:r>
          </a:p>
          <a:p>
            <a:pPr>
              <a:spcAft>
                <a:spcPts val="700"/>
              </a:spcAft>
            </a:pPr>
            <a:r>
              <a:rPr lang="es-AR" sz="1050" b="0" noProof="1">
                <a:latin typeface="Segoe UI"/>
              </a:rPr>
              <a:t>El dictamen COMPRAR es robusto a Base y Bull (ARS 1.236 y ARS 1.481, ambos sobre el spot de ARS 982,50); se revierte a VENDER únicamente bajo el escenario Bear (ARS 781) — el 25% de probabilidad del Bear es, en rigor, la probabilidad de que el dictamen quede invalidado.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9943" y="749340"/>
          <a:ext cx="1127455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Bear (25%)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Base (50%)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Bull (25%)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Precio LME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Reversión a cash-cost global (USD 1.900-2.100/Tn)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Reversión a la media OU (USD 2.450/Tn)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Sostenido &gt; USD 3.000/Tn, sin reversión en el horizonte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Riesgo País (EMBI+)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Estancamiento desde 441 pb, sin nueva compresión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Convergencia gradual a ~422 pb (AR(1)/CIR)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Compresión continua por debajo de 400 pb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CAPEX Eólico / RIGI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Demoras en Etapa V (582 MW); sin beneficios RIGI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Entrada en operación 4T-2026, según lo anunciado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Ejecución adelantada y RIGI pleno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WACC / g implícitos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9,0% / 1,5%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7,06% / 2,0%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6,5% / 2,2%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Precio Objetivo (DCF)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ARS 781 (-36,8% vs.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ARS 1.236,00 (caso oficial)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ARS 1.481 (+19,8% vs.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Picture 16" descr="bearbul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44" y="5250000"/>
            <a:ext cx="720475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RIESGO</a:t>
            </a:r>
            <a:endParaRPr lang="es-AR" sz="1850" b="1" noProof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¿Qué riesgos y shocks pueden afectar nuestra valuación?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3A1D3362-5D80-7D43-EB62-E7DC63732D43}"/>
              </a:ext>
            </a:extLst>
          </p:cNvPr>
          <p:cNvGrpSpPr/>
          <p:nvPr/>
        </p:nvGrpSpPr>
        <p:grpSpPr>
          <a:xfrm>
            <a:off x="397994" y="484632"/>
            <a:ext cx="11297182" cy="4773168"/>
            <a:chOff x="397994" y="484632"/>
            <a:chExt cx="11297182" cy="4773168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2896F47D-4AD2-66D3-A3A1-10A3F986D945}"/>
                </a:ext>
              </a:extLst>
            </p:cNvPr>
            <p:cNvGrpSpPr/>
            <p:nvPr/>
          </p:nvGrpSpPr>
          <p:grpSpPr>
            <a:xfrm>
              <a:off x="417884" y="484632"/>
              <a:ext cx="11277292" cy="950976"/>
              <a:chOff x="457200" y="960120"/>
              <a:chExt cx="11277292" cy="105156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457200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WACC BASE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rgbClr val="0B2545"/>
                    </a:solidFill>
                    <a:latin typeface="Georgia"/>
                  </a:rPr>
                  <a:t>7.1%</a:t>
                </a:r>
              </a:p>
            </p:txBody>
          </p:sp>
          <p:sp>
            <p:nvSpPr>
              <p:cNvPr id="5" name="Rounded Rectangle 4"/>
              <p:cNvSpPr/>
              <p:nvPr/>
            </p:nvSpPr>
            <p:spPr>
              <a:xfrm>
                <a:off x="3308527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WACC +150 pb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chemeClr val="tx2">
                        <a:lumMod val="50000"/>
                      </a:schemeClr>
                    </a:solidFill>
                    <a:latin typeface="Georgia"/>
                  </a:rPr>
                  <a:t>8.6%</a:t>
                </a: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6159854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PRECIO CON WACC +150 pb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rgbClr val="B11226"/>
                    </a:solidFill>
                    <a:latin typeface="Georgia"/>
                  </a:rPr>
                  <a:t>ARS 907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9011181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PRECIO CON LME −20%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rgbClr val="0B2545"/>
                    </a:solidFill>
                    <a:latin typeface="Georgia"/>
                  </a:rPr>
                  <a:t>ARS 522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97994" y="4676292"/>
              <a:ext cx="11277295" cy="41293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s-AR" sz="1050" noProof="1">
                  <a:latin typeface="Segoe UI"/>
                </a:rPr>
                <a:t> Precio del aluminio es variable de mayor impacto: shock -20% → precio objetivo ARS 522.</a:t>
              </a:r>
            </a:p>
            <a:p>
              <a:pPr>
                <a:spcAft>
                  <a:spcPts val="700"/>
                </a:spcAft>
              </a:pPr>
              <a:r>
                <a:rPr lang="es-AR" sz="1050" noProof="1">
                  <a:latin typeface="Segoe UI"/>
                </a:rPr>
                <a:t> Precio cae bajo mercado en 6/25 combinaciones de WACC y g, con WACC más alto y g más baja.</a:t>
              </a: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0B32A19E-B018-09C9-BD69-C0256B0C042A}"/>
                </a:ext>
              </a:extLst>
            </p:cNvPr>
            <p:cNvGrpSpPr/>
            <p:nvPr/>
          </p:nvGrpSpPr>
          <p:grpSpPr>
            <a:xfrm>
              <a:off x="448055" y="2194560"/>
              <a:ext cx="5594527" cy="3063240"/>
              <a:chOff x="448055" y="2194560"/>
              <a:chExt cx="5594527" cy="3063240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448055" y="2194560"/>
                <a:ext cx="5594527" cy="306324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21208" y="5038344"/>
                <a:ext cx="5340096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s-AR" sz="800" b="0" i="1" noProof="1">
                    <a:solidFill>
                      <a:srgbClr val="5C6B7F"/>
                    </a:solidFill>
                    <a:latin typeface="Segoe UI"/>
                  </a:rPr>
                  <a:t>Matriz de sensibilidad: WACC contra crecimiento perpetuo</a:t>
                </a:r>
              </a:p>
            </p:txBody>
          </p:sp>
          <p:sp>
            <p:nvSpPr>
              <p:cNvPr id="16" name="CT_19_0">
                <a:extLst>
                  <a:ext uri="{FF2B5EF4-FFF2-40B4-BE49-F238E27FC236}">
                    <a16:creationId xmlns:a16="http://schemas.microsoft.com/office/drawing/2014/main" id="{B85D426C-3825-CC31-4207-B1B6D9665EA4}"/>
                  </a:ext>
                </a:extLst>
              </p:cNvPr>
              <p:cNvSpPr txBox="1"/>
              <p:nvPr/>
            </p:nvSpPr>
            <p:spPr>
              <a:xfrm>
                <a:off x="530352" y="2246299"/>
                <a:ext cx="5340096" cy="329359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Matriz de sensibilidad WACC vs. crecimiento</a:t>
                </a:r>
              </a:p>
            </p:txBody>
          </p:sp>
          <p:pic>
            <p:nvPicPr>
              <p:cNvPr id="79" name="Picture 78" descr="fix_heatmap_sensibilida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183" y="2194560"/>
                <a:ext cx="5269273" cy="2905799"/>
              </a:xfrm>
              <a:prstGeom prst="rect">
                <a:avLst/>
              </a:prstGeom>
            </p:spPr>
          </p:pic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8BC5618-D44B-6F2C-EC2B-24652831B273}"/>
                </a:ext>
              </a:extLst>
            </p:cNvPr>
            <p:cNvGrpSpPr/>
            <p:nvPr/>
          </p:nvGrpSpPr>
          <p:grpSpPr>
            <a:xfrm>
              <a:off x="6117336" y="1537998"/>
              <a:ext cx="5577840" cy="3063240"/>
              <a:chOff x="6144768" y="2194560"/>
              <a:chExt cx="5577840" cy="306324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6144768" y="2194560"/>
                <a:ext cx="5577840" cy="306324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12" name="Picture 11" descr="s_sensibilidad_tornado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4625" y="2349633"/>
                <a:ext cx="4929342" cy="2871591"/>
              </a:xfrm>
              <a:prstGeom prst="rect">
                <a:avLst/>
              </a:prstGeom>
            </p:spPr>
          </p:pic>
          <p:sp>
            <p:nvSpPr>
              <p:cNvPr id="18" name="CT_19_1">
                <a:extLst>
                  <a:ext uri="{FF2B5EF4-FFF2-40B4-BE49-F238E27FC236}">
                    <a16:creationId xmlns:a16="http://schemas.microsoft.com/office/drawing/2014/main" id="{420D0BBB-0F0D-2ABC-FEE1-9A455F1F0CAD}"/>
                  </a:ext>
                </a:extLst>
              </p:cNvPr>
              <p:cNvSpPr txBox="1"/>
              <p:nvPr/>
            </p:nvSpPr>
            <p:spPr>
              <a:xfrm>
                <a:off x="6332220" y="2290498"/>
                <a:ext cx="5201202" cy="329359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Impacto en precio por variable</a:t>
                </a:r>
              </a:p>
            </p:txBody>
          </p:sp>
        </p:grpSp>
      </p:grpSp>
      <p:sp>
        <p:nvSpPr>
          <p:cNvPr id="77" name="TextBox 76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11451"/>
              </p:ext>
            </p:extLst>
          </p:nvPr>
        </p:nvGraphicFramePr>
        <p:xfrm>
          <a:off x="457200" y="5029200"/>
          <a:ext cx="11274552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7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1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CAPEX atípico 2025 (USD -244MM): ejecución y costo real del parque eólico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2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Exposición CCL: devaluación adicional impacta conversión USD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3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LME a la baja: sobreoferta China, desaceleración global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4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regulatorio y de continuidad política: controles de exportación de aluminio. Reversión de la compresión del EMBI+ si no se sostiene el programa económico vigente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5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Deuda neta alta 2025: USD 526 MM (3.22x EBITDA)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6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Tasa efectiva distorsionada por inflación (84% en 2025): el modelo usa la alícuota estatutaria del 35%, lo que sobreestima el flujo si la distorsión persiste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TAIL INDEX (Ξ)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0.18 (GPD)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EXPECTED SHORTFALL 99%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-7.8% Diario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VAR 99% EVT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-6.2% Diario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PROB. UPSIDE MC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85.2%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Prueba Estadística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Estadístico / Métrica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Conclusión de Diagnóstico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Augmented Dickey-Fuller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 = -3.84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Estacionariedad confirmada en retornos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Phillips-Perron (PP)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 = -4.12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Sin raíz unitaria en spreads LME-DXY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Jarque-Bera (JB)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χ² = 1,240.5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Rechazo de normalidad (Exceso curtosis 6.68)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ARCH-LM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LM = 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Heterocedasticidad condicional confirmada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figura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96" y="2039112"/>
            <a:ext cx="5063144" cy="2871216"/>
          </a:xfrm>
          <a:prstGeom prst="rect">
            <a:avLst/>
          </a:prstGeom>
        </p:spPr>
      </p:pic>
      <p:pic>
        <p:nvPicPr>
          <p:cNvPr id="13" name="Picture 12" descr="figura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938" y="2039112"/>
            <a:ext cx="5094092" cy="2871216"/>
          </a:xfrm>
          <a:prstGeom prst="rect">
            <a:avLst/>
          </a:prstGeom>
        </p:spPr>
      </p:pic>
      <p:sp>
        <p:nvSpPr>
          <p:cNvPr id="14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RIESGO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Teoría de Valores Extremos (EVT-GPD), Cópulas y Expected Shortfall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5124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PORTAFOLIO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¿Cuánto ALUA.BA conviene tener en la cartera?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8E7D9A3-C5EB-E50C-0823-B59E352ECE1E}"/>
              </a:ext>
            </a:extLst>
          </p:cNvPr>
          <p:cNvGrpSpPr/>
          <p:nvPr/>
        </p:nvGrpSpPr>
        <p:grpSpPr>
          <a:xfrm>
            <a:off x="73152" y="765476"/>
            <a:ext cx="12024360" cy="797053"/>
            <a:chOff x="457200" y="960120"/>
            <a:chExt cx="11256264" cy="105156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PESO EN CARTERA (MÁX. SHARPE)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noProof="1">
                  <a:latin typeface="+mj-lt"/>
                </a:rPr>
                <a:t>43.8</a:t>
              </a:r>
              <a:r>
                <a:rPr lang="es-AR" noProof="1"/>
                <a:t>%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734056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CONTRIBUCIÓN DE ALUA AL RIESGO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37.2%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010912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RIESGO SISTEMÁTICO DE ALUA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36.8%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287768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TAMAÑO RECOMENDADO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30.5%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564624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CVaR 95% (21 SESIONES i.i.d)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-32.8% 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3152" y="4564200"/>
            <a:ext cx="120243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latin typeface="Segoe UI"/>
              </a:defRPr>
            </a:pPr>
            <a:r>
              <a:rPr lang="es-AR" noProof="1"/>
              <a:t>En la cartera de máximo Sharpe, ALUA pesa 43.8% y aporta 37.2% del riesgo. </a:t>
            </a:r>
          </a:p>
          <a:p>
            <a:pPr>
              <a:defRPr sz="1050">
                <a:latin typeface="Segoe UI"/>
              </a:defRPr>
            </a:pPr>
            <a:endParaRPr lang="es-AR" noProof="1"/>
          </a:p>
          <a:p>
            <a:pPr>
              <a:defRPr sz="1050">
                <a:latin typeface="Segoe UI"/>
              </a:defRPr>
            </a:pPr>
            <a:r>
              <a:rPr lang="es-AR" noProof="1"/>
              <a:t>TXAR y MERVAL quedan en 0% de peso: el óptimo se resuelve enteramente entre ALUA y GGAL.</a:t>
            </a:r>
          </a:p>
          <a:p>
            <a:pPr>
              <a:defRPr sz="1050">
                <a:latin typeface="Segoe UI"/>
              </a:defRPr>
            </a:pPr>
            <a:endParaRPr lang="es-AR" noProof="1"/>
          </a:p>
          <a:p>
            <a:pPr>
              <a:defRPr sz="1050">
                <a:latin typeface="Segoe UI"/>
              </a:defRPr>
            </a:pPr>
            <a:r>
              <a:rPr lang="es-AR" noProof="1"/>
              <a:t>El tamaño recomendado (30.5% de la cartera) surge de tomar el mínimo entre half-Kelly y el sizing por VaR/ES a una tolerancia de drawdown del 10%.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6A22BC3-1754-B0DC-6CF7-A2EFA26A8990}"/>
              </a:ext>
            </a:extLst>
          </p:cNvPr>
          <p:cNvGrpSpPr/>
          <p:nvPr/>
        </p:nvGrpSpPr>
        <p:grpSpPr>
          <a:xfrm>
            <a:off x="73152" y="1622286"/>
            <a:ext cx="11069420" cy="4010418"/>
            <a:chOff x="73152" y="1622286"/>
            <a:chExt cx="11069420" cy="4010418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66013A46-EAE6-20B3-7555-EC9A90234F6A}"/>
                </a:ext>
              </a:extLst>
            </p:cNvPr>
            <p:cNvGrpSpPr/>
            <p:nvPr/>
          </p:nvGrpSpPr>
          <p:grpSpPr>
            <a:xfrm>
              <a:off x="73152" y="1622286"/>
              <a:ext cx="9514453" cy="2469299"/>
              <a:chOff x="457200" y="1667648"/>
              <a:chExt cx="9514453" cy="2469299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1D7A44FA-CCF5-5F4D-7BE9-8D63393FB5F3}"/>
                  </a:ext>
                </a:extLst>
              </p:cNvPr>
              <p:cNvGrpSpPr/>
              <p:nvPr/>
            </p:nvGrpSpPr>
            <p:grpSpPr>
              <a:xfrm>
                <a:off x="457200" y="1667648"/>
                <a:ext cx="4258056" cy="2455411"/>
                <a:chOff x="478536" y="2098301"/>
                <a:chExt cx="4783529" cy="2972294"/>
              </a:xfrm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7D3AFDF2-52AF-A7BF-29F2-397DFE8D9094}"/>
                    </a:ext>
                  </a:extLst>
                </p:cNvPr>
                <p:cNvGrpSpPr/>
                <p:nvPr/>
              </p:nvGrpSpPr>
              <p:grpSpPr>
                <a:xfrm>
                  <a:off x="478536" y="2098301"/>
                  <a:ext cx="4783529" cy="2972294"/>
                  <a:chOff x="393338" y="2212848"/>
                  <a:chExt cx="4617575" cy="2857747"/>
                </a:xfrm>
              </p:grpSpPr>
              <p:sp>
                <p:nvSpPr>
                  <p:cNvPr id="9" name="Rounded Rectangle 8"/>
                  <p:cNvSpPr/>
                  <p:nvPr/>
                </p:nvSpPr>
                <p:spPr>
                  <a:xfrm>
                    <a:off x="393338" y="2212848"/>
                    <a:ext cx="4617574" cy="2857747"/>
                  </a:xfrm>
                  <a:prstGeom prst="roundRect">
                    <a:avLst>
                      <a:gd name="adj" fmla="val 2500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D8DEE6"/>
                    </a:solidFill>
                  </a:ln>
                  <a:effectLst>
                    <a:outerShdw blurRad="90000" dist="28000" dir="5400000" rotWithShape="0">
                      <a:srgbClr val="1A2A3D">
                        <a:alpha val="28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 noProof="1"/>
                  </a:p>
                </p:txBody>
              </p:sp>
              <p:pic>
                <p:nvPicPr>
                  <p:cNvPr id="23" name="Picture 8" descr="s39_efficient_frontier.png">
                    <a:extLst>
                      <a:ext uri="{FF2B5EF4-FFF2-40B4-BE49-F238E27FC236}">
                        <a16:creationId xmlns:a16="http://schemas.microsoft.com/office/drawing/2014/main" id="{8D54E1A5-169E-AED1-1F38-349CAD0D25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540452" y="2267712"/>
                    <a:ext cx="4470461" cy="276625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Box 10"/>
                <p:cNvSpPr txBox="1"/>
                <p:nvPr/>
              </p:nvSpPr>
              <p:spPr>
                <a:xfrm>
                  <a:off x="617528" y="2179461"/>
                  <a:ext cx="4631128" cy="24622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B2545"/>
                      </a:solidFill>
                      <a:latin typeface="Georgia"/>
                    </a:defRPr>
                  </a:pPr>
                  <a:r>
                    <a:rPr lang="es-AR" noProof="1"/>
                    <a:t>Frontera eficiente de Markowitz</a:t>
                  </a:r>
                </a:p>
              </p:txBody>
            </p: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D1CA9A3A-EF08-349F-BF26-D53017F37A8F}"/>
                  </a:ext>
                </a:extLst>
              </p:cNvPr>
              <p:cNvGrpSpPr/>
              <p:nvPr/>
            </p:nvGrpSpPr>
            <p:grpSpPr>
              <a:xfrm>
                <a:off x="4798668" y="1667648"/>
                <a:ext cx="2688336" cy="2455411"/>
                <a:chOff x="5340096" y="2098301"/>
                <a:chExt cx="3044952" cy="2972294"/>
              </a:xfrm>
            </p:grpSpPr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3DB4A05D-39EC-F27D-14C2-02B138596153}"/>
                    </a:ext>
                  </a:extLst>
                </p:cNvPr>
                <p:cNvGrpSpPr/>
                <p:nvPr/>
              </p:nvGrpSpPr>
              <p:grpSpPr>
                <a:xfrm>
                  <a:off x="5340096" y="2098301"/>
                  <a:ext cx="3044952" cy="2972294"/>
                  <a:chOff x="4882896" y="2212848"/>
                  <a:chExt cx="3044952" cy="2972294"/>
                </a:xfrm>
              </p:grpSpPr>
              <p:sp>
                <p:nvSpPr>
                  <p:cNvPr id="12" name="Rounded Rectangle 11"/>
                  <p:cNvSpPr/>
                  <p:nvPr/>
                </p:nvSpPr>
                <p:spPr>
                  <a:xfrm>
                    <a:off x="4882896" y="2212848"/>
                    <a:ext cx="3044952" cy="2972294"/>
                  </a:xfrm>
                  <a:prstGeom prst="roundRect">
                    <a:avLst>
                      <a:gd name="adj" fmla="val 2500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D8DEE6"/>
                    </a:solidFill>
                  </a:ln>
                  <a:effectLst>
                    <a:outerShdw blurRad="90000" dist="28000" dir="5400000" rotWithShape="0">
                      <a:srgbClr val="1A2A3D">
                        <a:alpha val="28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 noProof="1"/>
                  </a:p>
                </p:txBody>
              </p:sp>
              <p:pic>
                <p:nvPicPr>
                  <p:cNvPr id="13" name="Picture 12" descr="s22_peso_riesgo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912748" y="2441942"/>
                    <a:ext cx="2955395" cy="27432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4" name="TextBox 13"/>
                <p:cNvSpPr txBox="1"/>
                <p:nvPr/>
              </p:nvSpPr>
              <p:spPr>
                <a:xfrm>
                  <a:off x="5369948" y="2159614"/>
                  <a:ext cx="2985248" cy="26079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B2545"/>
                      </a:solidFill>
                      <a:latin typeface="Georgia"/>
                    </a:defRPr>
                  </a:pPr>
                  <a:r>
                    <a:rPr lang="es-AR" sz="900" noProof="1"/>
                    <a:t>Peso y contribución al riesgo, por activo</a:t>
                  </a:r>
                </a:p>
              </p:txBody>
            </p:sp>
          </p:grp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8CB5637A-437D-6863-AB38-0B6F2A1A08E6}"/>
                  </a:ext>
                </a:extLst>
              </p:cNvPr>
              <p:cNvGrpSpPr/>
              <p:nvPr/>
            </p:nvGrpSpPr>
            <p:grpSpPr>
              <a:xfrm>
                <a:off x="7570416" y="1672831"/>
                <a:ext cx="2401237" cy="2464116"/>
                <a:chOff x="8065008" y="2212848"/>
                <a:chExt cx="3666744" cy="3346704"/>
              </a:xfrm>
            </p:grpSpPr>
            <p:sp>
              <p:nvSpPr>
                <p:cNvPr id="15" name="Rounded Rectangle 14"/>
                <p:cNvSpPr/>
                <p:nvPr/>
              </p:nvSpPr>
              <p:spPr>
                <a:xfrm>
                  <a:off x="8065008" y="2212848"/>
                  <a:ext cx="3666744" cy="3346704"/>
                </a:xfrm>
                <a:prstGeom prst="roundRect">
                  <a:avLst>
                    <a:gd name="adj" fmla="val 2500"/>
                  </a:avLst>
                </a:prstGeom>
                <a:solidFill>
                  <a:srgbClr val="FFFFFF"/>
                </a:solidFill>
                <a:ln w="9525">
                  <a:solidFill>
                    <a:srgbClr val="D8DEE6"/>
                  </a:solidFill>
                </a:ln>
                <a:effectLst>
                  <a:outerShdw blurRad="90000" dist="28000" dir="5400000" rotWithShape="0">
                    <a:srgbClr val="1A2A3D">
                      <a:alpha val="28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 noProof="1"/>
                </a:p>
              </p:txBody>
            </p:sp>
            <p:grpSp>
              <p:nvGrpSpPr>
                <p:cNvPr id="19" name="Grupo 18">
                  <a:extLst>
                    <a:ext uri="{FF2B5EF4-FFF2-40B4-BE49-F238E27FC236}">
                      <a16:creationId xmlns:a16="http://schemas.microsoft.com/office/drawing/2014/main" id="{EA0586BF-82DF-87E6-D2F1-2513C17E90D5}"/>
                    </a:ext>
                  </a:extLst>
                </p:cNvPr>
                <p:cNvGrpSpPr/>
                <p:nvPr/>
              </p:nvGrpSpPr>
              <p:grpSpPr>
                <a:xfrm>
                  <a:off x="8159496" y="2240774"/>
                  <a:ext cx="3483864" cy="3201389"/>
                  <a:chOff x="8156448" y="2212848"/>
                  <a:chExt cx="3483864" cy="3201389"/>
                </a:xfrm>
              </p:grpSpPr>
              <p:pic>
                <p:nvPicPr>
                  <p:cNvPr id="16" name="Picture 15" descr="s22_kelly_sizing.png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156448" y="2212848"/>
                    <a:ext cx="3483864" cy="3201389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8156448" y="2212848"/>
                    <a:ext cx="3483864" cy="46203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 sz="1000" b="1">
                        <a:solidFill>
                          <a:srgbClr val="0B2545"/>
                        </a:solidFill>
                        <a:latin typeface="Georgia"/>
                      </a:defRPr>
                    </a:pPr>
                    <a:r>
                      <a:rPr lang="es-AR" sz="900" noProof="1"/>
                      <a:t>Dimensionamiento: Kelly vs. VaR/ES</a:t>
                    </a:r>
                  </a:p>
                </p:txBody>
              </p:sp>
            </p:grpSp>
          </p:grp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F0170355-EDDC-6486-23AF-22DE8345DF04}"/>
                </a:ext>
              </a:extLst>
            </p:cNvPr>
            <p:cNvGrpSpPr/>
            <p:nvPr/>
          </p:nvGrpSpPr>
          <p:grpSpPr>
            <a:xfrm>
              <a:off x="6547104" y="2203704"/>
              <a:ext cx="4595468" cy="3429000"/>
              <a:chOff x="6547104" y="2203704"/>
              <a:chExt cx="4595468" cy="3429000"/>
            </a:xfrm>
          </p:grpSpPr>
          <p:sp>
            <p:nvSpPr>
              <p:cNvPr id="32" name="Rounded Rectangle 10">
                <a:extLst>
                  <a:ext uri="{FF2B5EF4-FFF2-40B4-BE49-F238E27FC236}">
                    <a16:creationId xmlns:a16="http://schemas.microsoft.com/office/drawing/2014/main" id="{954C89B3-3F30-0281-74D7-DC31BDC65FEF}"/>
                  </a:ext>
                </a:extLst>
              </p:cNvPr>
              <p:cNvSpPr/>
              <p:nvPr/>
            </p:nvSpPr>
            <p:spPr>
              <a:xfrm>
                <a:off x="6547104" y="2203704"/>
                <a:ext cx="4595468" cy="342900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sp>
            <p:nvSpPr>
              <p:cNvPr id="34" name="CT_18_1">
                <a:extLst>
                  <a:ext uri="{FF2B5EF4-FFF2-40B4-BE49-F238E27FC236}">
                    <a16:creationId xmlns:a16="http://schemas.microsoft.com/office/drawing/2014/main" id="{A80DCF38-906B-A439-80FA-55EE44D95B54}"/>
                  </a:ext>
                </a:extLst>
              </p:cNvPr>
              <p:cNvSpPr txBox="1"/>
              <p:nvPr/>
            </p:nvSpPr>
            <p:spPr>
              <a:xfrm>
                <a:off x="6547104" y="2231608"/>
                <a:ext cx="4595468" cy="314931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000" b="1" noProof="1">
                    <a:solidFill>
                      <a:srgbClr val="0B2545"/>
                    </a:solidFill>
                    <a:latin typeface="+mj-lt"/>
                  </a:rPr>
                  <a:t>Riesgo sistemático y diversificable</a:t>
                </a:r>
              </a:p>
            </p:txBody>
          </p:sp>
          <p:pic>
            <p:nvPicPr>
              <p:cNvPr id="36" name="Picture 35" descr="fix_varianza_sharp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3758" y="2276855"/>
                <a:ext cx="4518814" cy="3232437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PRECIO TARGET DCF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ARS 1.236,00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VALOR OPCIÓN REAL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+ARS 119.10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ALOCACIÓN MÁXIMA (CVaR)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20.0% Cartera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RATIO SHARPE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0.38 Histórico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dv_stochastic_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39112"/>
            <a:ext cx="5468112" cy="2871216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Metodología de Valuación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Precio Objetivo (ARS)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Implícito EV/EBITDA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Recomendación Final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DCF Modelo Base (WACC 7.06%)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1.236,00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5.8x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COMPRAR (+25.8% Upside)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DCF con Opción Real Eólica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1.355,10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6.4x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SOBREPONDERAR (+37.9% Upside)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DCF Estocástico (Media 10k Sims)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1.236,00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5.8x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Rango P5-P95 (ARS 972 - 1.502)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Múltiplos Pares Comparables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1.340,00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Alineado con Alcoa / Hydro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figura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938" y="2039112"/>
            <a:ext cx="5094092" cy="2871216"/>
          </a:xfrm>
          <a:prstGeom prst="rect">
            <a:avLst/>
          </a:prstGeom>
        </p:spPr>
      </p:pic>
      <p:sp>
        <p:nvSpPr>
          <p:cNvPr id="13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PORTAFOLIO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DCF Estocástico, Opción Real de Expansión y Alocación Half-Kelly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SÍNTESIS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¿Convergen las metodologías en el resultado?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DD4ACE5-AD5F-FE46-0FDA-34A910669AF1}"/>
              </a:ext>
            </a:extLst>
          </p:cNvPr>
          <p:cNvGrpSpPr/>
          <p:nvPr/>
        </p:nvGrpSpPr>
        <p:grpSpPr>
          <a:xfrm>
            <a:off x="182880" y="2068408"/>
            <a:ext cx="11850624" cy="3400000"/>
            <a:chOff x="182880" y="2068408"/>
            <a:chExt cx="11850624" cy="3400000"/>
          </a:xfrm>
        </p:grpSpPr>
        <p:sp>
          <p:nvSpPr>
            <p:cNvPr id="4" name="Rounded Rectangle 3"/>
            <p:cNvSpPr/>
            <p:nvPr/>
          </p:nvSpPr>
          <p:spPr>
            <a:xfrm>
              <a:off x="182880" y="2068408"/>
              <a:ext cx="11850624" cy="3400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/>
            </a:p>
          </p:txBody>
        </p:sp>
        <p:pic>
          <p:nvPicPr>
            <p:cNvPr id="13" name="Picture 12" descr="slide19_comparacion_notit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6208" y="2563388"/>
              <a:ext cx="7032019" cy="2905019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C3D71E5-B68B-F0B3-D546-341D5F46F70B}"/>
              </a:ext>
            </a:extLst>
          </p:cNvPr>
          <p:cNvGrpSpPr/>
          <p:nvPr/>
        </p:nvGrpSpPr>
        <p:grpSpPr>
          <a:xfrm>
            <a:off x="182880" y="871684"/>
            <a:ext cx="11850624" cy="1048556"/>
            <a:chOff x="976000" y="4460120"/>
            <a:chExt cx="10240000" cy="850000"/>
          </a:xfrm>
        </p:grpSpPr>
        <p:sp>
          <p:nvSpPr>
            <p:cNvPr id="5" name="Rounded Rectangle 4"/>
            <p:cNvSpPr/>
            <p:nvPr/>
          </p:nvSpPr>
          <p:spPr>
            <a:xfrm>
              <a:off x="97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BAJISTA (P5)</a:t>
              </a:r>
            </a:p>
            <a:p>
              <a:pPr algn="l"/>
              <a:r>
                <a:rPr lang="es-AR" b="1" noProof="1">
                  <a:solidFill>
                    <a:srgbClr val="B11226"/>
                  </a:solidFill>
                  <a:latin typeface="+mj-lt"/>
                  <a:cs typeface="Segoe UI" panose="020B0502040204020203" pitchFamily="34" charset="0"/>
                </a:rPr>
                <a:t>ARS 844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Monte Carlo P5</a:t>
              </a:r>
            </a:p>
          </p:txBody>
        </p:sp>
        <p:sp>
          <p:nvSpPr>
            <p:cNvPr id="3" name="Rounded Rectangle 4"/>
            <p:cNvSpPr/>
            <p:nvPr/>
          </p:nvSpPr>
          <p:spPr>
            <a:xfrm>
              <a:off x="355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BASE (DCF)</a:t>
              </a: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1,236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WACC 7.1%, g 2.0%</a:t>
              </a:r>
            </a:p>
          </p:txBody>
        </p:sp>
        <p:sp>
          <p:nvSpPr>
            <p:cNvPr id="6" name="Rounded Rectangle 4"/>
            <p:cNvSpPr/>
            <p:nvPr/>
          </p:nvSpPr>
          <p:spPr>
            <a:xfrm>
              <a:off x="613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ALCISTA (P95)</a:t>
              </a:r>
            </a:p>
            <a:p>
              <a:pPr algn="l"/>
              <a:r>
                <a:rPr lang="es-AR" sz="1800" b="1" noProof="1">
                  <a:solidFill>
                    <a:srgbClr val="217346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1,737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Monte Carlo P95</a:t>
              </a:r>
            </a:p>
          </p:txBody>
        </p:sp>
        <p:sp>
          <p:nvSpPr>
            <p:cNvPr id="7" name="Rounded Rectangle 4"/>
            <p:cNvSpPr/>
            <p:nvPr/>
          </p:nvSpPr>
          <p:spPr>
            <a:xfrm>
              <a:off x="871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MERCADO</a:t>
              </a: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982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+25.8% vs. objetivo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6888" y="5659169"/>
            <a:ext cx="11277295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noProof="1">
                <a:latin typeface="Segoe UI"/>
              </a:rPr>
              <a:t>DCF: ARS 1,236 (+25.8% vs ARS 982). </a:t>
            </a:r>
          </a:p>
          <a:p>
            <a:pPr algn="l"/>
            <a:endParaRPr lang="es-AR" sz="1050" noProof="1">
              <a:latin typeface="Segoe UI"/>
            </a:endParaRPr>
          </a:p>
          <a:p>
            <a:pPr algn="l"/>
            <a:r>
              <a:rPr lang="es-AR" sz="1050" noProof="1">
                <a:latin typeface="Segoe UI"/>
              </a:rPr>
              <a:t>Riesgo país ponderado (Lambda 0.20×EMBI+=0.88% vs 4.41%) y g=2.0% (Dumrauf, capacidad saturada). </a:t>
            </a:r>
          </a:p>
          <a:p>
            <a:pPr algn="l"/>
            <a:endParaRPr lang="es-AR" sz="1050" noProof="1">
              <a:latin typeface="Segoe UI"/>
            </a:endParaRPr>
          </a:p>
          <a:p>
            <a:pPr algn="l"/>
            <a:r>
              <a:rPr lang="es-AR" sz="1050" noProof="1">
                <a:latin typeface="Segoe UI"/>
              </a:rPr>
              <a:t>Mediana simulación ARS 1,237 confirma caso base.</a:t>
            </a:r>
          </a:p>
        </p:txBody>
      </p:sp>
      <p:sp>
        <p:nvSpPr>
          <p:cNvPr id="9" name="CT_16_0">
            <a:extLst>
              <a:ext uri="{FF2B5EF4-FFF2-40B4-BE49-F238E27FC236}">
                <a16:creationId xmlns:a16="http://schemas.microsoft.com/office/drawing/2014/main" id="{C5AFCDCA-FCA4-8E41-8011-3AFD611005ED}"/>
              </a:ext>
            </a:extLst>
          </p:cNvPr>
          <p:cNvSpPr txBox="1"/>
          <p:nvPr/>
        </p:nvSpPr>
        <p:spPr>
          <a:xfrm>
            <a:off x="2325034" y="2078369"/>
            <a:ext cx="71247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</a:rPr>
              <a:t>Comparación de metodologías de valuación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BETA KALMAN ACTUAL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0.851β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PERSISTENCIA GARCH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0.943 (α + β)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MEDIA EMBI CIR (Θ)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422 pb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VOLATILIDAD CIR (Σ)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12.8%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Modelo Estocástico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Parámetro Estimado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Valor Empírico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Diagnóstico Econométrico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Filtro de Kalman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Beta Estado (β_t)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Entre el OLS histórico y Hamada (0.888)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GJR-GARCH(1,1)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Persistencia (α+β)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Agrupamiento de volatilidad significativo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Proceso CIR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Media Largo Plazo (θ)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422 pb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Reversión a la media estocástica estricta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Merton Jump-Diffusion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Frecuencia Salto (λ)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0.15 / 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Captura discontinuidades macroeconómicas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figura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3" y="2039112"/>
            <a:ext cx="5077150" cy="2871216"/>
          </a:xfrm>
          <a:prstGeom prst="rect">
            <a:avLst/>
          </a:prstGeom>
        </p:spPr>
      </p:pic>
      <p:sp>
        <p:nvSpPr>
          <p:cNvPr id="14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MODELIZACIÓN ESTOCÁSTICA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Beta Dinámico (Kalman/GARCH) y Riesgo Soberano (Proceso CIR)</a:t>
            </a:r>
          </a:p>
        </p:txBody>
      </p:sp>
      <p:pic>
        <p:nvPicPr>
          <p:cNvPr id="15" name="Picture 14" descr="fix_beta_kalm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154" y="2039112"/>
            <a:ext cx="5101660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8084" y="680128"/>
            <a:ext cx="98755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AR" sz="4000" b="1" i="0" noProof="1">
                <a:solidFill>
                  <a:srgbClr val="FFFFFF"/>
                </a:solidFill>
                <a:latin typeface="Georgia" panose="02040502050405020303" pitchFamily="18" charset="0"/>
              </a:rPr>
              <a:t>Hipótesis y recomendación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77295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Matriz renovable propia sostiene margen ante caídas del LME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Perfil exportador dolarizado protege ante devaluaciones.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WACC 7.06%, riesgo país ponderado por Lambda=0.20 (Dumrauf, mercados emergentes).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DCF descuenta +25.8%, mercado cotiza bajo valor fundamental con g=2.0% conservador.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Monte Carlo: 85.2% probabilidad de que valor supere al mercado.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Riesgo de cola cuantificado: Expected Shortfall 99% de -7.8% diario (EVT-GPD), frente al -4.7% que sugiere la Normal.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Half-Kelly sugiere 36.8% de la cartera, pero excede el limite de politica de riesgo (20% CVaR maximo); tamano de posicion efectivamente recomendado: 20%.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Recomendación: COMPRAR. Potencial +25.8% a ARS 982.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6CEB0E1-FF2D-8DB6-DC95-10B4CE1B7F60}"/>
              </a:ext>
            </a:extLst>
          </p:cNvPr>
          <p:cNvGrpSpPr/>
          <p:nvPr/>
        </p:nvGrpSpPr>
        <p:grpSpPr>
          <a:xfrm>
            <a:off x="457201" y="2057400"/>
            <a:ext cx="11277294" cy="1051560"/>
            <a:chOff x="457201" y="1143000"/>
            <a:chExt cx="6915605" cy="1051560"/>
          </a:xfrm>
        </p:grpSpPr>
        <p:sp>
          <p:nvSpPr>
            <p:cNvPr id="4" name="Rounded Rectangle 3"/>
            <p:cNvSpPr/>
            <p:nvPr/>
          </p:nvSpPr>
          <p:spPr>
            <a:xfrm>
              <a:off x="457201" y="1143000"/>
              <a:ext cx="132588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RECOMENDACIÓN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COMPRAR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854631" y="1143000"/>
              <a:ext cx="132588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PRECIO OBJETIVO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1,236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52061" y="1143000"/>
              <a:ext cx="1325881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PRECIO DE MERCADO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982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046925" y="1158414"/>
              <a:ext cx="1325881" cy="1033026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UPSIDE</a:t>
              </a:r>
            </a:p>
            <a:p>
              <a:pPr algn="l"/>
              <a:endParaRPr lang="es-AR" sz="850" b="1" noProof="1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+25.8%</a:t>
              </a:r>
            </a:p>
          </p:txBody>
        </p:sp>
        <p:sp>
          <p:nvSpPr>
            <p:cNvPr id="3" name="Rounded Rectangle 4"/>
            <p:cNvSpPr/>
            <p:nvPr/>
          </p:nvSpPr>
          <p:spPr>
            <a:xfrm>
              <a:off x="4649493" y="1152267"/>
              <a:ext cx="1325881" cy="1033026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WACC +150 pb</a:t>
              </a:r>
            </a:p>
            <a:p>
              <a:pPr algn="l"/>
              <a:r>
                <a:rPr lang="es-AR" sz="1800" b="1" noProof="1">
                  <a:solidFill>
                    <a:srgbClr val="B11226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907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340864"/>
            <a:ext cx="1033272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6400" b="1" i="0" noProof="1">
                <a:solidFill>
                  <a:srgbClr val="FFFFFF"/>
                </a:solidFill>
                <a:latin typeface="Georgia"/>
              </a:rPr>
              <a:t>¡</a:t>
            </a:r>
            <a:r>
              <a:rPr lang="es-AR" sz="6400" b="1" i="0" noProof="1">
                <a:solidFill>
                  <a:srgbClr val="FFFFFF"/>
                </a:solidFill>
                <a:latin typeface="Georgia" panose="02040502050405020303" pitchFamily="18" charset="0"/>
              </a:rPr>
              <a:t>Gracias</a:t>
            </a:r>
            <a:r>
              <a:rPr lang="es-AR" sz="6400" b="1" i="0" noProof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057462"/>
            <a:ext cx="103327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1050" noProof="1">
                <a:solidFill>
                  <a:srgbClr val="5C6B7F"/>
                </a:solidFill>
                <a:latin typeface="Segoe UI"/>
              </a:rPr>
              <a:t>Este documento es material académico elaborado la cátedra 773 Economía y Técnica Bursátil (UNCuyo). No constituye asesoramiento financiero ni una recomendación de inversión profesional. El analista no mantiene posiciones en el activo bajo análisis.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9920" y="4379679"/>
            <a:ext cx="10698480" cy="307777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Dumrauf, G. - Finanzas Corporativas.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Alexander, Sharpe y Bailey, Fundamentos de Inversiones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IAI - Producción y capacidad de aluminio. 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Ministerio de Energía - Datos eléctricos. 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ALUAR S.A. - EEFF auditados 2020-2025. 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Yahoo Finance, Bloomberg. BCRA.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F7ED8"/>
      </a:accent1>
      <a:accent2>
        <a:srgbClr val="0D233A"/>
      </a:accent2>
      <a:accent3>
        <a:srgbClr val="00843D"/>
      </a:accent3>
      <a:accent4>
        <a:srgbClr val="C8102E"/>
      </a:accent4>
      <a:accent5>
        <a:srgbClr val="4A4A4A"/>
      </a:accent5>
      <a:accent6>
        <a:srgbClr val="B8860B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Segoe U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4160</Words>
  <Application>Microsoft Office PowerPoint</Application>
  <PresentationFormat>Panorámica</PresentationFormat>
  <Paragraphs>794</Paragraphs>
  <Slides>27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Aptos</vt:lpstr>
      <vt:lpstr>Arial</vt:lpstr>
      <vt:lpstr>Georgia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Valuación de Aluar S.A.I.C. - Presentación Ejecutiva y Defensa de Tesis</dc:title>
  <dc:subject>Defensa de Valuación Financiera y Modelos Cuantitativos (FCE - UNCuyo)</dc:subject>
  <dc:creator>Federico Agustín Chillón</dc:creator>
  <cp:keywords>Valuación, Aluar, ALUA.BA, DCF, WACC, Opciones Reales, Monte Carlo, FCE UNCuyo, Chillón</cp:keywords>
  <dc:description>Presentación ejecutiva para la defensa del trabajo final de valuación de Aluar S.A.I.C. en la FCE - UNCuyo por Federico Agustín Chillón.</dc:description>
  <cp:lastModifiedBy>Federico Chillon</cp:lastModifiedBy>
  <cp:revision>58</cp:revision>
  <dcterms:created xsi:type="dcterms:W3CDTF">2013-01-27T09:14:16Z</dcterms:created>
  <dcterms:modified xsi:type="dcterms:W3CDTF">2026-08-15T19:16:33Z</dcterms:modified>
  <cp:category>Defensa de Tesis / Finanzas Corporativas</cp:category>
  <dc:language>es-AR</dc:language>
</cp:coreProperties>
</file>